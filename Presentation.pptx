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Cost Comparison (USD)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235399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Traditional Lawyer</c:v>
                </c:pt>
                <c:pt idx="1">
                  <c:v>LexiGuard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300</c:v>
                </c:pt>
                <c:pt idx="1">
                  <c:v>15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20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5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E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b="1" sz="2800">
                <a:solidFill>
                  <a:srgbClr val="FFFFFF"/>
                </a:solidFill>
              </a:rP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6217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>
                <a:solidFill>
                  <a:srgbClr val="191919"/>
                </a:solidFill>
              </a:defRPr>
            </a:pPr>
            <a:r>
              <a:t>LexiGuard AI: Real-Time Legal Rights Assistant</a:t>
            </a:r>
          </a:p>
          <a:p>
            <a:pPr>
              <a:spcAft>
                <a:spcPts val="800"/>
              </a:spcAft>
              <a:defRPr sz="2400">
                <a:solidFill>
                  <a:srgbClr val="191919"/>
                </a:solidFill>
              </a:defRPr>
            </a:pPr>
            <a:r>
              <a:t>Ronald Kipkemboi | CIS-421 | Shaw University</a:t>
            </a:r>
          </a:p>
          <a:p>
            <a:pPr>
              <a:spcAft>
                <a:spcPts val="800"/>
              </a:spcAft>
              <a:defRPr sz="2400">
                <a:solidFill>
                  <a:srgbClr val="191919"/>
                </a:solidFill>
              </a:defRPr>
            </a:pPr>
            <a:r>
              <a:t>Company Designation: Fictitious (F)</a:t>
            </a:r>
          </a:p>
        </p:txBody>
      </p:sp>
      <p:pic>
        <p:nvPicPr>
          <p:cNvPr id="4" name="Picture 3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88720"/>
            <a:ext cx="52120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E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b="1" sz="2800">
                <a:solidFill>
                  <a:srgbClr val="FFFFFF"/>
                </a:solidFill>
              </a:rPr>
              <a:t>Section 2 – Defined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6217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91919"/>
                </a:solidFill>
              </a:defRPr>
            </a:pPr>
            <a:r>
              <a:t>Legal Amnesia: stress-induced inability to recall legal rights during encounters.</a:t>
            </a:r>
          </a:p>
          <a:p>
            <a:pPr>
              <a:spcAft>
                <a:spcPts val="800"/>
              </a:spcAft>
              <a:defRPr sz="2100">
                <a:solidFill>
                  <a:srgbClr val="191919"/>
                </a:solidFill>
              </a:defRPr>
            </a:pPr>
            <a:r>
              <a:t>Appears in police stops, landlord disputes, and other high-pressure legal situations.</a:t>
            </a:r>
          </a:p>
          <a:p>
            <a:pPr>
              <a:spcAft>
                <a:spcPts val="800"/>
              </a:spcAft>
              <a:defRPr sz="2100">
                <a:solidFill>
                  <a:srgbClr val="191919"/>
                </a:solidFill>
              </a:defRPr>
            </a:pPr>
            <a:r>
              <a:t>Disproportionately harms low-income individuals and students who lack immediate legal support.</a:t>
            </a:r>
          </a:p>
        </p:txBody>
      </p:sp>
      <p:pic>
        <p:nvPicPr>
          <p:cNvPr id="4" name="Picture 3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88720"/>
            <a:ext cx="52120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E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b="1" sz="2800">
                <a:solidFill>
                  <a:srgbClr val="FFFFFF"/>
                </a:solidFill>
              </a:rPr>
              <a:t>Section 3 – Identified the Causes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6217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91919"/>
                </a:solidFill>
              </a:defRPr>
            </a:pPr>
            <a:r>
              <a:t>Inefficient manual legal aid workflows delay access to actionable guidance.</a:t>
            </a:r>
          </a:p>
          <a:p>
            <a:pPr>
              <a:spcAft>
                <a:spcPts val="800"/>
              </a:spcAft>
              <a:defRPr sz="2100">
                <a:solidFill>
                  <a:srgbClr val="191919"/>
                </a:solidFill>
              </a:defRPr>
            </a:pPr>
            <a:r>
              <a:t>Lack of real-time digital 'bridges' to legal codes leaves users unsupported in the moment.</a:t>
            </a:r>
          </a:p>
          <a:p>
            <a:pPr>
              <a:spcAft>
                <a:spcPts val="800"/>
              </a:spcAft>
              <a:defRPr sz="2100">
                <a:solidFill>
                  <a:srgbClr val="191919"/>
                </a:solidFill>
              </a:defRPr>
            </a:pPr>
            <a:r>
              <a:t>The traditional 'Billable Hour' model discourages automation and scalable access.</a:t>
            </a:r>
          </a:p>
        </p:txBody>
      </p:sp>
      <p:pic>
        <p:nvPicPr>
          <p:cNvPr id="4" name="Picture 3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88720"/>
            <a:ext cx="52120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E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b="1" sz="2800">
                <a:solidFill>
                  <a:srgbClr val="FFFFFF"/>
                </a:solidFill>
              </a:rPr>
              <a:t>Section 4 – Specified Solution (Architecture)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6217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91919"/>
                </a:solidFill>
              </a:defRPr>
            </a:pPr>
            <a:r>
              <a:t>Delivery model: Software as a Service (SaaS).</a:t>
            </a:r>
          </a:p>
          <a:p>
            <a:pPr>
              <a:spcAft>
                <a:spcPts val="800"/>
              </a:spcAft>
              <a:defRPr sz="2100">
                <a:solidFill>
                  <a:srgbClr val="191919"/>
                </a:solidFill>
              </a:defRPr>
            </a:pPr>
            <a:r>
              <a:t>Core platform: Platform as a Service (PaaS) on Google Vertex AI.</a:t>
            </a:r>
          </a:p>
          <a:p>
            <a:pPr>
              <a:spcAft>
                <a:spcPts val="800"/>
              </a:spcAft>
              <a:defRPr sz="2100">
                <a:solidFill>
                  <a:srgbClr val="191919"/>
                </a:solidFill>
              </a:defRPr>
            </a:pPr>
            <a:r>
              <a:t>Development approach: Agile lifecycle with iterative releases and user feedback loops.</a:t>
            </a:r>
          </a:p>
        </p:txBody>
      </p:sp>
      <p:pic>
        <p:nvPicPr>
          <p:cNvPr id="4" name="Picture 3" descr="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88720"/>
            <a:ext cx="52120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E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b="1" sz="2800">
                <a:solidFill>
                  <a:srgbClr val="FFFFFF"/>
                </a:solidFill>
              </a:rPr>
              <a:t>Section 4 – Technology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6217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91919"/>
                </a:solidFill>
              </a:defRPr>
            </a:pPr>
            <a:r>
              <a:t>Networking: 5G/LTE for low-latency mobile connectivity.</a:t>
            </a:r>
          </a:p>
          <a:p>
            <a:pPr>
              <a:spcAft>
                <a:spcPts val="800"/>
              </a:spcAft>
              <a:defRPr sz="2000">
                <a:solidFill>
                  <a:srgbClr val="191919"/>
                </a:solidFill>
              </a:defRPr>
            </a:pPr>
            <a:r>
              <a:t>Databases: Vector Database (Pinecone) for semantic legal retrieval.</a:t>
            </a:r>
          </a:p>
          <a:p>
            <a:pPr>
              <a:spcAft>
                <a:spcPts val="800"/>
              </a:spcAft>
              <a:defRPr sz="2000">
                <a:solidFill>
                  <a:srgbClr val="191919"/>
                </a:solidFill>
              </a:defRPr>
            </a:pPr>
            <a:r>
              <a:t>Security: AES-256 encryption and biometrics for secure access.</a:t>
            </a:r>
          </a:p>
          <a:p>
            <a:pPr>
              <a:spcAft>
                <a:spcPts val="800"/>
              </a:spcAft>
              <a:defRPr sz="2000">
                <a:solidFill>
                  <a:srgbClr val="191919"/>
                </a:solidFill>
              </a:defRPr>
            </a:pPr>
            <a:r>
              <a:t>AI: NLP + Speech-to-Text for real-time rights guidance.</a:t>
            </a:r>
          </a:p>
        </p:txBody>
      </p:sp>
      <p:pic>
        <p:nvPicPr>
          <p:cNvPr id="4" name="Picture 3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88720"/>
            <a:ext cx="52120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E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b="1" sz="2800">
                <a:solidFill>
                  <a:srgbClr val="FFFFFF"/>
                </a:solidFill>
              </a:rPr>
              <a:t>Section 5 – Revenue and Expense Visualization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22960" y="1371600"/>
          <a:ext cx="694944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046720" y="1737360"/>
            <a:ext cx="374903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0E2A5C"/>
                </a:solidFill>
              </a:defRPr>
            </a:pPr>
            <a:r>
              <a:t>Traditional Lawyer: $300/hr</a:t>
            </a:r>
          </a:p>
          <a:p>
            <a:pPr>
              <a:spcAft>
                <a:spcPts val="1000"/>
              </a:spcAft>
              <a:defRPr sz="2100" b="0">
                <a:solidFill>
                  <a:srgbClr val="0E2A5C"/>
                </a:solidFill>
              </a:defRPr>
            </a:pPr>
            <a:r>
              <a:t>LexiGuard AI: $15/mo</a:t>
            </a:r>
          </a:p>
          <a:p>
            <a:pPr>
              <a:spcAft>
                <a:spcPts val="1000"/>
              </a:spcAft>
              <a:defRPr sz="2400" b="1">
                <a:solidFill>
                  <a:srgbClr val="0E2A5C"/>
                </a:solidFill>
              </a:defRPr>
            </a:pPr>
            <a:r>
              <a:t>≈95% cost reduction to help close the Justice Gap.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E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b="1" sz="2800">
                <a:solidFill>
                  <a:srgbClr val="FFFFFF"/>
                </a:solidFill>
              </a:rPr>
              <a:t>Evaluation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6217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91919"/>
                </a:solidFill>
              </a:defRPr>
            </a:pPr>
            <a:r>
              <a:t>LexiGuard AI is built for scalability across institutions and user populations.</a:t>
            </a:r>
          </a:p>
          <a:p>
            <a:pPr>
              <a:spcAft>
                <a:spcPts val="800"/>
              </a:spcAft>
              <a:defRPr sz="2100">
                <a:solidFill>
                  <a:srgbClr val="191919"/>
                </a:solidFill>
              </a:defRPr>
            </a:pPr>
            <a:r>
              <a:t>The project aligns to all CIS-421 rubric sections and required course concepts.</a:t>
            </a:r>
          </a:p>
          <a:p>
            <a:pPr>
              <a:spcAft>
                <a:spcPts val="800"/>
              </a:spcAft>
              <a:defRPr sz="2100">
                <a:solidFill>
                  <a:srgbClr val="191919"/>
                </a:solidFill>
              </a:defRPr>
            </a:pPr>
            <a:r>
              <a:t>The presentation demonstrates problem definition, cause analysis, solution architecture, and value impact.</a:t>
            </a:r>
          </a:p>
        </p:txBody>
      </p:sp>
      <p:pic>
        <p:nvPicPr>
          <p:cNvPr id="4" name="Picture 3" descr="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88720"/>
            <a:ext cx="5212080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