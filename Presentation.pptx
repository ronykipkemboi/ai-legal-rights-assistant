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t>Cost Comparison: Traditional Lawyer vs RonyGuard Subscription</a:t>
            </a:r>
          </a:p>
        </c:rich>
      </c:tx>
      <c:layout/>
      <c:overlay val="0"/>
    </c:title>
    <c:autoTitleDeleted val="0"/>
    <c:plotArea>
      <c:barChart>
        <c:barDir val="col"/>
        <c:grouping val="clustered"/>
        <c:ser>
          <c:idx val="0"/>
          <c:order val="0"/>
          <c:tx>
            <c:strRef>
              <c:f>Sheet1!$B$1</c:f>
              <c:strCache>
                <c:ptCount val="1"/>
                <c:pt idx="0">
                  <c:v>Cost (USD)</c:v>
                </c:pt>
              </c:strCache>
            </c:strRef>
          </c:tx>
          <c:spPr>
            <a:solidFill>
              <a:srgbClr val="235399"/>
            </a:solidFill>
            <a:ln>
              <a:noFill/>
            </a:ln>
          </c:spPr>
          <c:cat>
            <c:strRef>
              <c:f>Sheet1!$A$2:$A$3</c:f>
              <c:strCache>
                <c:ptCount val="2"/>
                <c:pt idx="0">
                  <c:v>Traditional Lawyer</c:v>
                </c:pt>
                <c:pt idx="1">
                  <c:v>RonyGuard Subscription</c:v>
                </c:pt>
              </c:strCache>
            </c:strRef>
          </c:cat>
          <c:val>
            <c:numRef>
              <c:f>Sheet1!$B$2:$B$3</c:f>
              <c:numCache>
                <c:formatCode>General</c:formatCode>
                <c:ptCount val="2"/>
                <c:pt idx="0">
                  <c:v>600</c:v>
                </c:pt>
                <c:pt idx="1">
                  <c:v>15</c:v>
                </c:pt>
              </c:numCache>
            </c:numRef>
          </c:val>
        </c:ser>
        <c:axId val="-2068027336"/>
        <c:axId val="-2113994440"/>
      </c:barChart>
      <c:catAx>
        <c:axId val="-2068027336"/>
        <c:scaling>
          <c:orientation val="minMax"/>
        </c:scaling>
        <c:delete val="0"/>
        <c:axPos val="b"/>
        <c:title>
          <c:tx>
            <c:rich>
              <a:bodyPr/>
              <a:lstStyle/>
              <a:p>
                <a:r>
                  <a:t>Service Type</a:t>
                </a:r>
              </a:p>
            </c:rich>
          </c:tx>
          <c:layout/>
          <c:overlay val="0"/>
        </c:title>
        <c:majorTickMark val="out"/>
        <c:minorTickMark val="none"/>
        <c:tickLblPos val="nextTo"/>
        <c:crossAx val="-2113994440"/>
        <c:crosses val="autoZero"/>
        <c:auto val="1"/>
        <c:lblAlgn val="ctr"/>
        <c:lblOffset val="100"/>
        <c:noMultiLvlLbl val="0"/>
      </c:catAx>
      <c:valAx>
        <c:axId val="-2113994440"/>
        <c:scaling>
          <c:max val="320.0"/>
          <c:min val="0.0"/>
        </c:scaling>
        <c:delete val="0"/>
        <c:axPos val="l"/>
        <c:majorGridlines/>
        <c:title>
          <c:tx>
            <c:rich>
              <a:bodyPr/>
              <a:lstStyle/>
              <a:p>
                <a:r>
                  <a:t>Cost (USD)</a:t>
                </a:r>
              </a:p>
            </c:rich>
          </c:tx>
          <c:layout/>
          <c:overlay val="0"/>
        </c:title>
        <c:majorTickMark val="out"/>
        <c:minorTickMark val="none"/>
        <c:tickLblPos val="nextTo"/>
        <c:crossAx val="-2068027336"/>
        <c:crosses val="autoZero"/>
        <c:majorUnit val="5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RonyGuard is a class concept, not a launched company. I will use future language throughout: the proposed app would provide real-time legal-rights guidance. This establishes the required fictitious (F) designation clearly before discussing the business case.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define the problem in business terms, not only technical terms. The unmet need is large, frequent, and costly, creating a strong market opportunity. RonyGuard would target moments where conventional legal services are unavailable or unaffordable.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root causes, not a restatement of the problem. The justice gap persists because process, system, data, security, and strategy issues reinforce each other. This analysis justifies why a technology-enabled model is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business model to platform choices. SaaS supports predictable recurring revenue, while PaaS supports rapid scaling and lower operational burden. The value proposition is improved access at lower cost with sustainable economics.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Vector databases store embeddings so the system retrieves by meaning, not just keywords. Retrieval-augmented generation grounds model responses in trusted legal sources, which helps reduce hallucinations. Security is handled through encryption, access control, auditing, and resilience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left-to-right on the chart: traditional legal help is high-cost and episodic, while RonyGuard is low-cost and recurring. Then I connect MRR and ARR to subscription scalability, followed by estimated operating costs and margin potential. This directly satisfies the rubric requirement for revenue-and-expense visualization tied to the business case.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RonyGuard is a realistic but fictitious model showing how MIS concepts can produce both social impact and business value. I am happy to answer questions on architecture, security controls, and financial assumptions.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70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5029200" cy="5029200"/>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89520" y="1920240"/>
            <a:ext cx="5029200" cy="5029200"/>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88952" cy="1463040"/>
          </a:xfrm>
          <a:prstGeom prst="rect">
            <a:avLst/>
          </a:prstGeom>
          <a:solidFill>
            <a:srgbClr val="111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822960"/>
            <a:ext cx="5669280" cy="1097280"/>
          </a:xfrm>
          <a:prstGeom prst="rect">
            <a:avLst/>
          </a:prstGeom>
          <a:noFill/>
        </p:spPr>
        <p:txBody>
          <a:bodyPr wrap="none">
            <a:spAutoFit/>
          </a:bodyPr>
          <a:lstStyle/>
          <a:p>
            <a:r>
              <a:rPr sz="5400" b="1">
                <a:solidFill>
                  <a:srgbClr val="2997FF"/>
                </a:solidFill>
                <a:latin typeface="Poppins"/>
              </a:rPr>
              <a:t>RonyGuard</a:t>
            </a:r>
          </a:p>
        </p:txBody>
      </p:sp>
      <p:sp>
        <p:nvSpPr>
          <p:cNvPr id="7" name="TextBox 6"/>
          <p:cNvSpPr txBox="1"/>
          <p:nvPr/>
        </p:nvSpPr>
        <p:spPr>
          <a:xfrm>
            <a:off x="749808" y="1828800"/>
            <a:ext cx="5760720" cy="731520"/>
          </a:xfrm>
          <a:prstGeom prst="rect">
            <a:avLst/>
          </a:prstGeom>
          <a:noFill/>
        </p:spPr>
        <p:txBody>
          <a:bodyPr wrap="none">
            <a:spAutoFit/>
          </a:bodyPr>
          <a:lstStyle/>
          <a:p>
            <a:r>
              <a:rPr sz="2200">
                <a:solidFill>
                  <a:srgbClr val="E6EEFC"/>
                </a:solidFill>
                <a:latin typeface="Inter"/>
              </a:rPr>
              <a:t>Real-time legal rights guidance for everyday people.</a:t>
            </a:r>
          </a:p>
        </p:txBody>
      </p:sp>
      <p:sp>
        <p:nvSpPr>
          <p:cNvPr id="8" name="TextBox 7"/>
          <p:cNvSpPr txBox="1"/>
          <p:nvPr/>
        </p:nvSpPr>
        <p:spPr>
          <a:xfrm>
            <a:off x="749808" y="2514600"/>
            <a:ext cx="5669280" cy="457200"/>
          </a:xfrm>
          <a:prstGeom prst="rect">
            <a:avLst/>
          </a:prstGeom>
          <a:noFill/>
        </p:spPr>
        <p:txBody>
          <a:bodyPr wrap="none">
            <a:spAutoFit/>
          </a:bodyPr>
          <a:lstStyle/>
          <a:p>
            <a:r>
              <a:rPr sz="1400">
                <a:solidFill>
                  <a:srgbClr val="A6B4D1"/>
                </a:solidFill>
                <a:latin typeface="Inter"/>
              </a:rPr>
              <a:t>Fictitious consumer legal-tech startup · CIS-421</a:t>
            </a:r>
          </a:p>
        </p:txBody>
      </p:sp>
      <p:sp>
        <p:nvSpPr>
          <p:cNvPr id="9" name="Rounded Rectangle 8"/>
          <p:cNvSpPr/>
          <p:nvPr/>
        </p:nvSpPr>
        <p:spPr>
          <a:xfrm>
            <a:off x="6583680" y="868680"/>
            <a:ext cx="4846320" cy="475488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9712" y="1051560"/>
            <a:ext cx="4334256" cy="4434840"/>
          </a:xfrm>
          <a:prstGeom prst="rect">
            <a:avLst/>
          </a:prstGeom>
          <a:noFill/>
        </p:spPr>
        <p:txBody>
          <a:bodyPr wrap="none">
            <a:spAutoFit/>
          </a:bodyPr>
          <a:lstStyle/>
          <a:p>
            <a:r>
              <a:rPr sz="2000" b="1">
                <a:solidFill>
                  <a:srgbClr val="E6EEFC"/>
                </a:solidFill>
                <a:latin typeface="Poppins"/>
              </a:rPr>
              <a:t>Hero Visual Placeholder</a:t>
            </a:r>
          </a:p>
          <a:p>
            <a:pPr/>
            <a:r>
              <a:rPr sz="1800">
                <a:solidFill>
                  <a:srgbClr val="A6B4D1"/>
                </a:solidFill>
                <a:latin typeface="Inter"/>
              </a:rPr>
              <a:t>• Abstract legal-tech dashboard + phone mockup</a:t>
            </a:r>
          </a:p>
          <a:p>
            <a:pPr/>
            <a:r>
              <a:rPr sz="1800">
                <a:solidFill>
                  <a:srgbClr val="A6B4D1"/>
                </a:solidFill>
                <a:latin typeface="Inter"/>
              </a:rPr>
              <a:t>• Glow lines, app UI cards, and trust/security cues</a:t>
            </a:r>
          </a:p>
          <a:p>
            <a:pPr/>
            <a:r>
              <a:rPr sz="1800">
                <a:solidFill>
                  <a:srgbClr val="A6B4D1"/>
                </a:solidFill>
                <a:latin typeface="Inter"/>
              </a:rPr>
              <a:t>• Replace with branded screenshot when available</a:t>
            </a:r>
          </a:p>
        </p:txBody>
      </p:sp>
      <p:sp>
        <p:nvSpPr>
          <p:cNvPr id="11" name="Oval 10"/>
          <p:cNvSpPr/>
          <p:nvPr/>
        </p:nvSpPr>
        <p:spPr>
          <a:xfrm>
            <a:off x="731520" y="5440680"/>
            <a:ext cx="384048" cy="384048"/>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449824"/>
            <a:ext cx="384048" cy="384048"/>
          </a:xfrm>
          <a:prstGeom prst="rect">
            <a:avLst/>
          </a:prstGeom>
          <a:noFill/>
        </p:spPr>
        <p:txBody>
          <a:bodyPr wrap="none">
            <a:spAutoFit/>
          </a:bodyPr>
          <a:lstStyle/>
          <a:p>
            <a:pPr algn="ctr"/>
            <a:r>
              <a:rPr b="1" sz="1300">
                <a:solidFill>
                  <a:srgbClr val="070D1C"/>
                </a:solidFill>
                <a:latin typeface="Poppins"/>
              </a:rPr>
              <a:t>R</a:t>
            </a:r>
          </a:p>
        </p:txBody>
      </p:sp>
      <p:sp>
        <p:nvSpPr>
          <p:cNvPr id="13" name="TextBox 12"/>
          <p:cNvSpPr txBox="1"/>
          <p:nvPr/>
        </p:nvSpPr>
        <p:spPr>
          <a:xfrm>
            <a:off x="1207008" y="5495544"/>
            <a:ext cx="4754880" cy="274320"/>
          </a:xfrm>
          <a:prstGeom prst="rect">
            <a:avLst/>
          </a:prstGeom>
          <a:noFill/>
        </p:spPr>
        <p:txBody>
          <a:bodyPr wrap="none">
            <a:spAutoFit/>
          </a:bodyPr>
          <a:lstStyle/>
          <a:p>
            <a:r>
              <a:rPr sz="1200">
                <a:solidFill>
                  <a:srgbClr val="A6B4D1"/>
                </a:solidFill>
                <a:latin typeface="Inter"/>
              </a:rPr>
              <a:t>Ronald Kipkemboi  ·  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70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5029200" cy="5029200"/>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89520" y="1920240"/>
            <a:ext cx="5029200" cy="5029200"/>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88952" cy="1463040"/>
          </a:xfrm>
          <a:prstGeom prst="rect">
            <a:avLst/>
          </a:prstGeom>
          <a:solidFill>
            <a:srgbClr val="111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
            <a:ext cx="6217920" cy="914400"/>
          </a:xfrm>
          <a:prstGeom prst="rect">
            <a:avLst/>
          </a:prstGeom>
          <a:noFill/>
        </p:spPr>
        <p:txBody>
          <a:bodyPr wrap="none">
            <a:spAutoFit/>
          </a:bodyPr>
          <a:lstStyle/>
          <a:p>
            <a:r>
              <a:rPr sz="3600" b="1">
                <a:solidFill>
                  <a:srgbClr val="2997FF"/>
                </a:solidFill>
                <a:latin typeface="Poppins"/>
              </a:rPr>
              <a:t>The Problem: The Justice Gap</a:t>
            </a:r>
          </a:p>
        </p:txBody>
      </p:sp>
      <p:sp>
        <p:nvSpPr>
          <p:cNvPr id="7" name="Rounded Rectangle 6"/>
          <p:cNvSpPr/>
          <p:nvPr/>
        </p:nvSpPr>
        <p:spPr>
          <a:xfrm>
            <a:off x="731520" y="1234440"/>
            <a:ext cx="5852160" cy="438912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417320"/>
            <a:ext cx="5340096" cy="4069080"/>
          </a:xfrm>
          <a:prstGeom prst="rect">
            <a:avLst/>
          </a:prstGeom>
          <a:noFill/>
        </p:spPr>
        <p:txBody>
          <a:bodyPr wrap="none">
            <a:spAutoFit/>
          </a:bodyPr>
          <a:lstStyle/>
          <a:p>
            <a:r>
              <a:rPr sz="2000" b="1">
                <a:solidFill>
                  <a:srgbClr val="E6EEFC"/>
                </a:solidFill>
                <a:latin typeface="Poppins"/>
              </a:rPr>
              <a:t>Why consumers struggle in critical moments</a:t>
            </a:r>
          </a:p>
          <a:p>
            <a:pPr/>
            <a:r>
              <a:rPr sz="1800">
                <a:solidFill>
                  <a:srgbClr val="A6B4D1"/>
                </a:solidFill>
                <a:latin typeface="Inter"/>
              </a:rPr>
              <a:t>• High-stress legal encounters cause “legal amnesia.”</a:t>
            </a:r>
          </a:p>
          <a:p>
            <a:pPr/>
            <a:r>
              <a:rPr sz="1800">
                <a:solidFill>
                  <a:srgbClr val="A6B4D1"/>
                </a:solidFill>
                <a:latin typeface="Inter"/>
              </a:rPr>
              <a:t>• People can’t quickly recall rights during stops or disputes.</a:t>
            </a:r>
          </a:p>
          <a:p>
            <a:pPr/>
            <a:r>
              <a:rPr sz="1800">
                <a:solidFill>
                  <a:srgbClr val="A6B4D1"/>
                </a:solidFill>
                <a:latin typeface="Inter"/>
              </a:rPr>
              <a:t>• Traditional legal help is too slow and expensive for real-time use.</a:t>
            </a:r>
          </a:p>
          <a:p>
            <a:pPr/>
            <a:r>
              <a:rPr sz="1800">
                <a:solidFill>
                  <a:srgbClr val="A6B4D1"/>
                </a:solidFill>
                <a:latin typeface="Inter"/>
              </a:rPr>
              <a:t>• Large underserved market needs always-on plain-language support.</a:t>
            </a:r>
          </a:p>
        </p:txBody>
      </p:sp>
      <p:sp>
        <p:nvSpPr>
          <p:cNvPr id="9" name="Rounded Rectangle 8"/>
          <p:cNvSpPr/>
          <p:nvPr/>
        </p:nvSpPr>
        <p:spPr>
          <a:xfrm>
            <a:off x="6858000" y="1234440"/>
            <a:ext cx="4572000" cy="438912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4032" y="1417320"/>
            <a:ext cx="4059936" cy="4069080"/>
          </a:xfrm>
          <a:prstGeom prst="rect">
            <a:avLst/>
          </a:prstGeom>
          <a:noFill/>
        </p:spPr>
        <p:txBody>
          <a:bodyPr wrap="none">
            <a:spAutoFit/>
          </a:bodyPr>
          <a:lstStyle/>
          <a:p>
            <a:r>
              <a:rPr sz="2000" b="1">
                <a:solidFill>
                  <a:srgbClr val="E6EEFC"/>
                </a:solidFill>
                <a:latin typeface="Poppins"/>
              </a:rPr>
              <a:t>Illustration Placeholder</a:t>
            </a:r>
          </a:p>
          <a:p>
            <a:pPr/>
            <a:r>
              <a:rPr sz="1800">
                <a:solidFill>
                  <a:srgbClr val="A6B4D1"/>
                </a:solidFill>
                <a:latin typeface="Inter"/>
              </a:rPr>
              <a:t>• Person using mobile app during legal scenario</a:t>
            </a:r>
          </a:p>
          <a:p>
            <a:pPr/>
            <a:r>
              <a:rPr sz="1800">
                <a:solidFill>
                  <a:srgbClr val="A6B4D1"/>
                </a:solidFill>
                <a:latin typeface="Inter"/>
              </a:rPr>
              <a:t>• Overlay UI cards: rights, next steps, emergency tips</a:t>
            </a:r>
          </a:p>
        </p:txBody>
      </p:sp>
      <p:sp>
        <p:nvSpPr>
          <p:cNvPr id="11" name="Oval 10"/>
          <p:cNvSpPr/>
          <p:nvPr/>
        </p:nvSpPr>
        <p:spPr>
          <a:xfrm>
            <a:off x="868680" y="141732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435608"/>
            <a:ext cx="402336" cy="402336"/>
          </a:xfrm>
          <a:prstGeom prst="rect">
            <a:avLst/>
          </a:prstGeom>
          <a:noFill/>
        </p:spPr>
        <p:txBody>
          <a:bodyPr wrap="none">
            <a:spAutoFit/>
          </a:bodyPr>
          <a:lstStyle/>
          <a:p>
            <a:pPr algn="ctr"/>
            <a:r>
              <a:rPr sz="1400" b="1">
                <a:solidFill>
                  <a:srgbClr val="070D1C"/>
                </a:solidFill>
                <a:latin typeface="Inter"/>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70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5029200" cy="5029200"/>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89520" y="1920240"/>
            <a:ext cx="5029200" cy="5029200"/>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88952" cy="1463040"/>
          </a:xfrm>
          <a:prstGeom prst="rect">
            <a:avLst/>
          </a:prstGeom>
          <a:solidFill>
            <a:srgbClr val="111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
            <a:ext cx="5943600" cy="914400"/>
          </a:xfrm>
          <a:prstGeom prst="rect">
            <a:avLst/>
          </a:prstGeom>
          <a:noFill/>
        </p:spPr>
        <p:txBody>
          <a:bodyPr wrap="none">
            <a:spAutoFit/>
          </a:bodyPr>
          <a:lstStyle/>
          <a:p>
            <a:r>
              <a:rPr sz="3400" b="1">
                <a:solidFill>
                  <a:srgbClr val="2997FF"/>
                </a:solidFill>
                <a:latin typeface="Poppins"/>
              </a:rPr>
              <a:t>Why the Gap Persists</a:t>
            </a:r>
          </a:p>
        </p:txBody>
      </p:sp>
      <p:sp>
        <p:nvSpPr>
          <p:cNvPr id="7" name="Rounded Rectangle 6"/>
          <p:cNvSpPr/>
          <p:nvPr/>
        </p:nvSpPr>
        <p:spPr>
          <a:xfrm>
            <a:off x="731520" y="1280160"/>
            <a:ext cx="3200400" cy="201168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4400" y="146304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81328"/>
            <a:ext cx="402336" cy="402336"/>
          </a:xfrm>
          <a:prstGeom prst="rect">
            <a:avLst/>
          </a:prstGeom>
          <a:noFill/>
        </p:spPr>
        <p:txBody>
          <a:bodyPr wrap="none">
            <a:spAutoFit/>
          </a:bodyPr>
          <a:lstStyle/>
          <a:p>
            <a:pPr algn="ctr"/>
            <a:r>
              <a:rPr sz="1400" b="1">
                <a:solidFill>
                  <a:srgbClr val="070D1C"/>
                </a:solidFill>
                <a:latin typeface="Inter"/>
              </a:rPr>
              <a:t>•</a:t>
            </a:r>
          </a:p>
        </p:txBody>
      </p:sp>
      <p:sp>
        <p:nvSpPr>
          <p:cNvPr id="10" name="TextBox 9"/>
          <p:cNvSpPr txBox="1"/>
          <p:nvPr/>
        </p:nvSpPr>
        <p:spPr>
          <a:xfrm>
            <a:off x="1417320" y="1463040"/>
            <a:ext cx="2377440" cy="1645920"/>
          </a:xfrm>
          <a:prstGeom prst="rect">
            <a:avLst/>
          </a:prstGeom>
          <a:noFill/>
        </p:spPr>
        <p:txBody>
          <a:bodyPr wrap="none">
            <a:spAutoFit/>
          </a:bodyPr>
          <a:lstStyle/>
          <a:p>
            <a:r>
              <a:rPr b="1" sz="1800">
                <a:solidFill>
                  <a:srgbClr val="E6EEFC"/>
                </a:solidFill>
                <a:latin typeface="Poppins"/>
              </a:rPr>
              <a:t>Process</a:t>
            </a:r>
          </a:p>
          <a:p>
            <a:r>
              <a:rPr sz="1400">
                <a:solidFill>
                  <a:srgbClr val="A6B4D1"/>
                </a:solidFill>
                <a:latin typeface="Inter"/>
              </a:rPr>
              <a:t>Legal help starts after incidents, not during them.</a:t>
            </a:r>
          </a:p>
        </p:txBody>
      </p:sp>
      <p:sp>
        <p:nvSpPr>
          <p:cNvPr id="11" name="Rounded Rectangle 10"/>
          <p:cNvSpPr/>
          <p:nvPr/>
        </p:nvSpPr>
        <p:spPr>
          <a:xfrm>
            <a:off x="4526280" y="1280160"/>
            <a:ext cx="3200400" cy="201168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709160" y="146304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481328"/>
            <a:ext cx="402336" cy="402336"/>
          </a:xfrm>
          <a:prstGeom prst="rect">
            <a:avLst/>
          </a:prstGeom>
          <a:noFill/>
        </p:spPr>
        <p:txBody>
          <a:bodyPr wrap="none">
            <a:spAutoFit/>
          </a:bodyPr>
          <a:lstStyle/>
          <a:p>
            <a:pPr algn="ctr"/>
            <a:r>
              <a:rPr sz="1400" b="1">
                <a:solidFill>
                  <a:srgbClr val="070D1C"/>
                </a:solidFill>
                <a:latin typeface="Inter"/>
              </a:rPr>
              <a:t>•</a:t>
            </a:r>
          </a:p>
        </p:txBody>
      </p:sp>
      <p:sp>
        <p:nvSpPr>
          <p:cNvPr id="14" name="TextBox 13"/>
          <p:cNvSpPr txBox="1"/>
          <p:nvPr/>
        </p:nvSpPr>
        <p:spPr>
          <a:xfrm>
            <a:off x="5212080" y="1463040"/>
            <a:ext cx="2377440" cy="1645920"/>
          </a:xfrm>
          <a:prstGeom prst="rect">
            <a:avLst/>
          </a:prstGeom>
          <a:noFill/>
        </p:spPr>
        <p:txBody>
          <a:bodyPr wrap="none">
            <a:spAutoFit/>
          </a:bodyPr>
          <a:lstStyle/>
          <a:p>
            <a:r>
              <a:rPr b="1" sz="1800">
                <a:solidFill>
                  <a:srgbClr val="E6EEFC"/>
                </a:solidFill>
                <a:latin typeface="Poppins"/>
              </a:rPr>
              <a:t>Systems</a:t>
            </a:r>
          </a:p>
          <a:p>
            <a:r>
              <a:rPr sz="1400">
                <a:solidFill>
                  <a:srgbClr val="A6B4D1"/>
                </a:solidFill>
                <a:latin typeface="Inter"/>
              </a:rPr>
              <a:t>Dense legal docs are hard to search on mobile.</a:t>
            </a:r>
          </a:p>
        </p:txBody>
      </p:sp>
      <p:sp>
        <p:nvSpPr>
          <p:cNvPr id="15" name="Rounded Rectangle 14"/>
          <p:cNvSpPr/>
          <p:nvPr/>
        </p:nvSpPr>
        <p:spPr>
          <a:xfrm>
            <a:off x="8321040" y="1280160"/>
            <a:ext cx="3200400" cy="201168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03920" y="146304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0" y="1481328"/>
            <a:ext cx="402336" cy="402336"/>
          </a:xfrm>
          <a:prstGeom prst="rect">
            <a:avLst/>
          </a:prstGeom>
          <a:noFill/>
        </p:spPr>
        <p:txBody>
          <a:bodyPr wrap="none">
            <a:spAutoFit/>
          </a:bodyPr>
          <a:lstStyle/>
          <a:p>
            <a:pPr algn="ctr"/>
            <a:r>
              <a:rPr sz="1400" b="1">
                <a:solidFill>
                  <a:srgbClr val="070D1C"/>
                </a:solidFill>
                <a:latin typeface="Inter"/>
              </a:rPr>
              <a:t>•</a:t>
            </a:r>
          </a:p>
        </p:txBody>
      </p:sp>
      <p:sp>
        <p:nvSpPr>
          <p:cNvPr id="18" name="TextBox 17"/>
          <p:cNvSpPr txBox="1"/>
          <p:nvPr/>
        </p:nvSpPr>
        <p:spPr>
          <a:xfrm>
            <a:off x="9006840" y="1463040"/>
            <a:ext cx="2377440" cy="1645920"/>
          </a:xfrm>
          <a:prstGeom prst="rect">
            <a:avLst/>
          </a:prstGeom>
          <a:noFill/>
        </p:spPr>
        <p:txBody>
          <a:bodyPr wrap="none">
            <a:spAutoFit/>
          </a:bodyPr>
          <a:lstStyle/>
          <a:p>
            <a:r>
              <a:rPr b="1" sz="1800">
                <a:solidFill>
                  <a:srgbClr val="E6EEFC"/>
                </a:solidFill>
                <a:latin typeface="Poppins"/>
              </a:rPr>
              <a:t>Data</a:t>
            </a:r>
          </a:p>
          <a:p>
            <a:r>
              <a:rPr sz="1400">
                <a:solidFill>
                  <a:srgbClr val="A6B4D1"/>
                </a:solidFill>
                <a:latin typeface="Inter"/>
              </a:rPr>
              <a:t>Rights questions are under-tracked, limiting insights.</a:t>
            </a:r>
          </a:p>
        </p:txBody>
      </p:sp>
      <p:sp>
        <p:nvSpPr>
          <p:cNvPr id="19" name="Rounded Rectangle 18"/>
          <p:cNvSpPr/>
          <p:nvPr/>
        </p:nvSpPr>
        <p:spPr>
          <a:xfrm>
            <a:off x="2651760" y="3657600"/>
            <a:ext cx="3200400" cy="201168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834640" y="384048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34640" y="3858768"/>
            <a:ext cx="402336" cy="402336"/>
          </a:xfrm>
          <a:prstGeom prst="rect">
            <a:avLst/>
          </a:prstGeom>
          <a:noFill/>
        </p:spPr>
        <p:txBody>
          <a:bodyPr wrap="none">
            <a:spAutoFit/>
          </a:bodyPr>
          <a:lstStyle/>
          <a:p>
            <a:pPr algn="ctr"/>
            <a:r>
              <a:rPr sz="1400" b="1">
                <a:solidFill>
                  <a:srgbClr val="070D1C"/>
                </a:solidFill>
                <a:latin typeface="Inter"/>
              </a:rPr>
              <a:t>•</a:t>
            </a:r>
          </a:p>
        </p:txBody>
      </p:sp>
      <p:sp>
        <p:nvSpPr>
          <p:cNvPr id="22" name="TextBox 21"/>
          <p:cNvSpPr txBox="1"/>
          <p:nvPr/>
        </p:nvSpPr>
        <p:spPr>
          <a:xfrm>
            <a:off x="3337560" y="3840480"/>
            <a:ext cx="2377440" cy="1645920"/>
          </a:xfrm>
          <a:prstGeom prst="rect">
            <a:avLst/>
          </a:prstGeom>
          <a:noFill/>
        </p:spPr>
        <p:txBody>
          <a:bodyPr wrap="none">
            <a:spAutoFit/>
          </a:bodyPr>
          <a:lstStyle/>
          <a:p>
            <a:r>
              <a:rPr b="1" sz="1800">
                <a:solidFill>
                  <a:srgbClr val="E6EEFC"/>
                </a:solidFill>
                <a:latin typeface="Poppins"/>
              </a:rPr>
              <a:t>Security</a:t>
            </a:r>
          </a:p>
          <a:p>
            <a:r>
              <a:rPr sz="1400">
                <a:solidFill>
                  <a:srgbClr val="A6B4D1"/>
                </a:solidFill>
                <a:latin typeface="Inter"/>
              </a:rPr>
              <a:t>Surveillance concerns prevent people from asking.</a:t>
            </a:r>
          </a:p>
        </p:txBody>
      </p:sp>
      <p:sp>
        <p:nvSpPr>
          <p:cNvPr id="23" name="Rounded Rectangle 22"/>
          <p:cNvSpPr/>
          <p:nvPr/>
        </p:nvSpPr>
        <p:spPr>
          <a:xfrm>
            <a:off x="6446520" y="3657600"/>
            <a:ext cx="3200400" cy="201168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29400" y="384048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3858768"/>
            <a:ext cx="402336" cy="402336"/>
          </a:xfrm>
          <a:prstGeom prst="rect">
            <a:avLst/>
          </a:prstGeom>
          <a:noFill/>
        </p:spPr>
        <p:txBody>
          <a:bodyPr wrap="none">
            <a:spAutoFit/>
          </a:bodyPr>
          <a:lstStyle/>
          <a:p>
            <a:pPr algn="ctr"/>
            <a:r>
              <a:rPr sz="1400" b="1">
                <a:solidFill>
                  <a:srgbClr val="070D1C"/>
                </a:solidFill>
                <a:latin typeface="Inter"/>
              </a:rPr>
              <a:t>•</a:t>
            </a:r>
          </a:p>
        </p:txBody>
      </p:sp>
      <p:sp>
        <p:nvSpPr>
          <p:cNvPr id="26" name="TextBox 25"/>
          <p:cNvSpPr txBox="1"/>
          <p:nvPr/>
        </p:nvSpPr>
        <p:spPr>
          <a:xfrm>
            <a:off x="7132320" y="3840480"/>
            <a:ext cx="2377440" cy="1645920"/>
          </a:xfrm>
          <a:prstGeom prst="rect">
            <a:avLst/>
          </a:prstGeom>
          <a:noFill/>
        </p:spPr>
        <p:txBody>
          <a:bodyPr wrap="none">
            <a:spAutoFit/>
          </a:bodyPr>
          <a:lstStyle/>
          <a:p>
            <a:r>
              <a:rPr b="1" sz="1800">
                <a:solidFill>
                  <a:srgbClr val="E6EEFC"/>
                </a:solidFill>
                <a:latin typeface="Poppins"/>
              </a:rPr>
              <a:t>Strategy</a:t>
            </a:r>
          </a:p>
          <a:p>
            <a:r>
              <a:rPr sz="1400">
                <a:solidFill>
                  <a:srgbClr val="A6B4D1"/>
                </a:solidFill>
                <a:latin typeface="Inter"/>
              </a:rPr>
              <a:t>Legacy incentives underfund low-cost legal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70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5029200" cy="5029200"/>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89520" y="1920240"/>
            <a:ext cx="5029200" cy="5029200"/>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88952" cy="1463040"/>
          </a:xfrm>
          <a:prstGeom prst="rect">
            <a:avLst/>
          </a:prstGeom>
          <a:solidFill>
            <a:srgbClr val="111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
            <a:ext cx="6400800" cy="914400"/>
          </a:xfrm>
          <a:prstGeom prst="rect">
            <a:avLst/>
          </a:prstGeom>
          <a:noFill/>
        </p:spPr>
        <p:txBody>
          <a:bodyPr wrap="none">
            <a:spAutoFit/>
          </a:bodyPr>
          <a:lstStyle/>
          <a:p>
            <a:r>
              <a:rPr sz="3400" b="1">
                <a:solidFill>
                  <a:srgbClr val="2997FF"/>
                </a:solidFill>
                <a:latin typeface="Poppins"/>
              </a:rPr>
              <a:t>Solution: RonyGuard Platform</a:t>
            </a:r>
          </a:p>
        </p:txBody>
      </p:sp>
      <p:sp>
        <p:nvSpPr>
          <p:cNvPr id="7" name="Rounded Rectangle 6"/>
          <p:cNvSpPr/>
          <p:nvPr/>
        </p:nvSpPr>
        <p:spPr>
          <a:xfrm>
            <a:off x="1005840" y="1188720"/>
            <a:ext cx="4206240" cy="4480560"/>
          </a:xfrm>
          <a:prstGeom prst="roundRect">
            <a:avLst/>
          </a:prstGeom>
          <a:solidFill>
            <a:srgbClr val="0C1426"/>
          </a:solidFill>
          <a:ln w="25400">
            <a:solidFill>
              <a:srgbClr val="4862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34440" y="1508760"/>
            <a:ext cx="3749039" cy="3840480"/>
          </a:xfrm>
          <a:prstGeom prst="roundRect">
            <a:avLst/>
          </a:prstGeom>
          <a:solidFill>
            <a:srgbClr val="1A2C4D"/>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1783080"/>
            <a:ext cx="3200400" cy="3291840"/>
          </a:xfrm>
          <a:prstGeom prst="rect">
            <a:avLst/>
          </a:prstGeom>
          <a:noFill/>
        </p:spPr>
        <p:txBody>
          <a:bodyPr wrap="none">
            <a:spAutoFit/>
          </a:bodyPr>
          <a:lstStyle/>
          <a:p>
            <a:r>
              <a:rPr sz="1800" b="1">
                <a:solidFill>
                  <a:srgbClr val="E6EEFC"/>
                </a:solidFill>
                <a:latin typeface="Inter"/>
              </a:rPr>
              <a:t>App Mockup Placeholder</a:t>
            </a:r>
          </a:p>
          <a:p>
            <a:r>
              <a:rPr sz="1500" b="0">
                <a:solidFill>
                  <a:srgbClr val="A6B4D1"/>
                </a:solidFill>
                <a:latin typeface="Inter"/>
              </a:rPr>
              <a:t>Rights by scenario</a:t>
            </a:r>
          </a:p>
          <a:p>
            <a:r>
              <a:rPr sz="1500" b="0">
                <a:solidFill>
                  <a:srgbClr val="A6B4D1"/>
                </a:solidFill>
                <a:latin typeface="Inter"/>
              </a:rPr>
              <a:t>Voice + text guidance</a:t>
            </a:r>
          </a:p>
          <a:p>
            <a:r>
              <a:rPr sz="1500" b="0">
                <a:solidFill>
                  <a:srgbClr val="A6B4D1"/>
                </a:solidFill>
                <a:latin typeface="Inter"/>
              </a:rPr>
              <a:t>Save incident timeline</a:t>
            </a:r>
          </a:p>
        </p:txBody>
      </p:sp>
      <p:sp>
        <p:nvSpPr>
          <p:cNvPr id="10" name="TextBox 9"/>
          <p:cNvSpPr txBox="1"/>
          <p:nvPr/>
        </p:nvSpPr>
        <p:spPr>
          <a:xfrm>
            <a:off x="5577840" y="1234440"/>
            <a:ext cx="5943600" cy="914400"/>
          </a:xfrm>
          <a:prstGeom prst="rect">
            <a:avLst/>
          </a:prstGeom>
          <a:noFill/>
        </p:spPr>
        <p:txBody>
          <a:bodyPr wrap="none">
            <a:spAutoFit/>
          </a:bodyPr>
          <a:lstStyle/>
          <a:p>
            <a:r>
              <a:rPr sz="1800">
                <a:solidFill>
                  <a:srgbClr val="E6EEFC"/>
                </a:solidFill>
                <a:latin typeface="Inter"/>
              </a:rPr>
              <a:t>A subscription mobile + web service that gives immediate, plain-language legal guidance.</a:t>
            </a:r>
          </a:p>
        </p:txBody>
      </p:sp>
      <p:sp>
        <p:nvSpPr>
          <p:cNvPr id="11" name="Rounded Rectangle 10"/>
          <p:cNvSpPr/>
          <p:nvPr/>
        </p:nvSpPr>
        <p:spPr>
          <a:xfrm>
            <a:off x="5577840" y="2011680"/>
            <a:ext cx="5486400" cy="100584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60720" y="2267712"/>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2286000"/>
            <a:ext cx="402336" cy="402336"/>
          </a:xfrm>
          <a:prstGeom prst="rect">
            <a:avLst/>
          </a:prstGeom>
          <a:noFill/>
        </p:spPr>
        <p:txBody>
          <a:bodyPr wrap="none">
            <a:spAutoFit/>
          </a:bodyPr>
          <a:lstStyle/>
          <a:p>
            <a:pPr algn="ctr"/>
            <a:r>
              <a:rPr sz="1400" b="1">
                <a:solidFill>
                  <a:srgbClr val="070D1C"/>
                </a:solidFill>
                <a:latin typeface="Inter"/>
              </a:rPr>
              <a:t>✓</a:t>
            </a:r>
          </a:p>
        </p:txBody>
      </p:sp>
      <p:sp>
        <p:nvSpPr>
          <p:cNvPr id="14" name="TextBox 13"/>
          <p:cNvSpPr txBox="1"/>
          <p:nvPr/>
        </p:nvSpPr>
        <p:spPr>
          <a:xfrm>
            <a:off x="6263640" y="2148840"/>
            <a:ext cx="4572000" cy="731520"/>
          </a:xfrm>
          <a:prstGeom prst="rect">
            <a:avLst/>
          </a:prstGeom>
          <a:noFill/>
        </p:spPr>
        <p:txBody>
          <a:bodyPr wrap="none">
            <a:spAutoFit/>
          </a:bodyPr>
          <a:lstStyle/>
          <a:p>
            <a:r>
              <a:rPr b="1" sz="1600">
                <a:solidFill>
                  <a:srgbClr val="E6EEFC"/>
                </a:solidFill>
                <a:latin typeface="Poppins"/>
              </a:rPr>
              <a:t>24/7 Instant Support</a:t>
            </a:r>
          </a:p>
          <a:p>
            <a:r>
              <a:rPr sz="1300">
                <a:solidFill>
                  <a:srgbClr val="A6B4D1"/>
                </a:solidFill>
                <a:latin typeface="Inter"/>
              </a:rPr>
              <a:t>Real-time next steps in high-stress moments.</a:t>
            </a:r>
          </a:p>
        </p:txBody>
      </p:sp>
      <p:sp>
        <p:nvSpPr>
          <p:cNvPr id="15" name="Rounded Rectangle 14"/>
          <p:cNvSpPr/>
          <p:nvPr/>
        </p:nvSpPr>
        <p:spPr>
          <a:xfrm>
            <a:off x="5577840" y="3246120"/>
            <a:ext cx="5486400" cy="100584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60720" y="3502152"/>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0" y="3520440"/>
            <a:ext cx="402336" cy="402336"/>
          </a:xfrm>
          <a:prstGeom prst="rect">
            <a:avLst/>
          </a:prstGeom>
          <a:noFill/>
        </p:spPr>
        <p:txBody>
          <a:bodyPr wrap="none">
            <a:spAutoFit/>
          </a:bodyPr>
          <a:lstStyle/>
          <a:p>
            <a:pPr algn="ctr"/>
            <a:r>
              <a:rPr sz="1400" b="1">
                <a:solidFill>
                  <a:srgbClr val="070D1C"/>
                </a:solidFill>
                <a:latin typeface="Inter"/>
              </a:rPr>
              <a:t>✓</a:t>
            </a:r>
          </a:p>
        </p:txBody>
      </p:sp>
      <p:sp>
        <p:nvSpPr>
          <p:cNvPr id="18" name="TextBox 17"/>
          <p:cNvSpPr txBox="1"/>
          <p:nvPr/>
        </p:nvSpPr>
        <p:spPr>
          <a:xfrm>
            <a:off x="6263640" y="3383280"/>
            <a:ext cx="4572000" cy="731520"/>
          </a:xfrm>
          <a:prstGeom prst="rect">
            <a:avLst/>
          </a:prstGeom>
          <a:noFill/>
        </p:spPr>
        <p:txBody>
          <a:bodyPr wrap="none">
            <a:spAutoFit/>
          </a:bodyPr>
          <a:lstStyle/>
          <a:p>
            <a:r>
              <a:rPr b="1" sz="1600">
                <a:solidFill>
                  <a:srgbClr val="E6EEFC"/>
                </a:solidFill>
                <a:latin typeface="Poppins"/>
              </a:rPr>
              <a:t>Scalable AI Platform</a:t>
            </a:r>
          </a:p>
          <a:p>
            <a:r>
              <a:rPr sz="1300">
                <a:solidFill>
                  <a:srgbClr val="A6B4D1"/>
                </a:solidFill>
                <a:latin typeface="Inter"/>
              </a:rPr>
              <a:t>SaaS + PaaS architecture for fast iteration.</a:t>
            </a:r>
          </a:p>
        </p:txBody>
      </p:sp>
      <p:sp>
        <p:nvSpPr>
          <p:cNvPr id="19" name="Rounded Rectangle 18"/>
          <p:cNvSpPr/>
          <p:nvPr/>
        </p:nvSpPr>
        <p:spPr>
          <a:xfrm>
            <a:off x="5577840" y="4480560"/>
            <a:ext cx="5486400" cy="100584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60720" y="4736592"/>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720" y="4754880"/>
            <a:ext cx="402336" cy="402336"/>
          </a:xfrm>
          <a:prstGeom prst="rect">
            <a:avLst/>
          </a:prstGeom>
          <a:noFill/>
        </p:spPr>
        <p:txBody>
          <a:bodyPr wrap="none">
            <a:spAutoFit/>
          </a:bodyPr>
          <a:lstStyle/>
          <a:p>
            <a:pPr algn="ctr"/>
            <a:r>
              <a:rPr sz="1400" b="1">
                <a:solidFill>
                  <a:srgbClr val="070D1C"/>
                </a:solidFill>
                <a:latin typeface="Inter"/>
              </a:rPr>
              <a:t>✓</a:t>
            </a:r>
          </a:p>
        </p:txBody>
      </p:sp>
      <p:sp>
        <p:nvSpPr>
          <p:cNvPr id="22" name="TextBox 21"/>
          <p:cNvSpPr txBox="1"/>
          <p:nvPr/>
        </p:nvSpPr>
        <p:spPr>
          <a:xfrm>
            <a:off x="6263640" y="4617720"/>
            <a:ext cx="4572000" cy="731520"/>
          </a:xfrm>
          <a:prstGeom prst="rect">
            <a:avLst/>
          </a:prstGeom>
          <a:noFill/>
        </p:spPr>
        <p:txBody>
          <a:bodyPr wrap="none">
            <a:spAutoFit/>
          </a:bodyPr>
          <a:lstStyle/>
          <a:p>
            <a:r>
              <a:rPr b="1" sz="1600">
                <a:solidFill>
                  <a:srgbClr val="E6EEFC"/>
                </a:solidFill>
                <a:latin typeface="Poppins"/>
              </a:rPr>
              <a:t>Business Upside</a:t>
            </a:r>
          </a:p>
          <a:p>
            <a:r>
              <a:rPr sz="1300">
                <a:solidFill>
                  <a:srgbClr val="A6B4D1"/>
                </a:solidFill>
                <a:latin typeface="Inter"/>
              </a:rPr>
              <a:t>Recurring revenue without linear staffing growth.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70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5029200" cy="5029200"/>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89520" y="1920240"/>
            <a:ext cx="5029200" cy="5029200"/>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88952" cy="1463040"/>
          </a:xfrm>
          <a:prstGeom prst="rect">
            <a:avLst/>
          </a:prstGeom>
          <a:solidFill>
            <a:srgbClr val="111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
            <a:ext cx="7772400" cy="914400"/>
          </a:xfrm>
          <a:prstGeom prst="rect">
            <a:avLst/>
          </a:prstGeom>
          <a:noFill/>
        </p:spPr>
        <p:txBody>
          <a:bodyPr wrap="none">
            <a:spAutoFit/>
          </a:bodyPr>
          <a:lstStyle/>
          <a:p>
            <a:r>
              <a:rPr sz="3200" b="1">
                <a:solidFill>
                  <a:srgbClr val="2997FF"/>
                </a:solidFill>
                <a:latin typeface="Poppins"/>
              </a:rPr>
              <a:t>How It Works: Tech, Data, Security</a:t>
            </a:r>
          </a:p>
        </p:txBody>
      </p:sp>
      <p:sp>
        <p:nvSpPr>
          <p:cNvPr id="7" name="Rounded Rectangle 6"/>
          <p:cNvSpPr/>
          <p:nvPr/>
        </p:nvSpPr>
        <p:spPr>
          <a:xfrm>
            <a:off x="731520" y="1325880"/>
            <a:ext cx="3566160" cy="196596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4400" y="150876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27048"/>
            <a:ext cx="402336" cy="402336"/>
          </a:xfrm>
          <a:prstGeom prst="rect">
            <a:avLst/>
          </a:prstGeom>
          <a:noFill/>
        </p:spPr>
        <p:txBody>
          <a:bodyPr wrap="none">
            <a:spAutoFit/>
          </a:bodyPr>
          <a:lstStyle/>
          <a:p>
            <a:pPr algn="ctr"/>
            <a:r>
              <a:rPr sz="1400" b="1">
                <a:solidFill>
                  <a:srgbClr val="070D1C"/>
                </a:solidFill>
                <a:latin typeface="Inter"/>
              </a:rPr>
              <a:t>1</a:t>
            </a:r>
          </a:p>
        </p:txBody>
      </p:sp>
      <p:sp>
        <p:nvSpPr>
          <p:cNvPr id="10" name="TextBox 9"/>
          <p:cNvSpPr txBox="1"/>
          <p:nvPr/>
        </p:nvSpPr>
        <p:spPr>
          <a:xfrm>
            <a:off x="1417320" y="1508760"/>
            <a:ext cx="2743200" cy="1645920"/>
          </a:xfrm>
          <a:prstGeom prst="rect">
            <a:avLst/>
          </a:prstGeom>
          <a:noFill/>
        </p:spPr>
        <p:txBody>
          <a:bodyPr wrap="none">
            <a:spAutoFit/>
          </a:bodyPr>
          <a:lstStyle/>
          <a:p>
            <a:r>
              <a:rPr b="1" sz="1600">
                <a:solidFill>
                  <a:srgbClr val="E6EEFC"/>
                </a:solidFill>
                <a:latin typeface="Poppins"/>
              </a:rPr>
              <a:t>API Networking</a:t>
            </a:r>
          </a:p>
          <a:p>
            <a:r>
              <a:rPr sz="1250">
                <a:solidFill>
                  <a:srgbClr val="A6B4D1"/>
                </a:solidFill>
                <a:latin typeface="Inter"/>
              </a:rPr>
              <a:t>HTTPS APIs over mobile networks for low-latency responses.</a:t>
            </a:r>
          </a:p>
        </p:txBody>
      </p:sp>
      <p:sp>
        <p:nvSpPr>
          <p:cNvPr id="11" name="Rounded Rectangle 10"/>
          <p:cNvSpPr/>
          <p:nvPr/>
        </p:nvSpPr>
        <p:spPr>
          <a:xfrm>
            <a:off x="4572000" y="1325880"/>
            <a:ext cx="3566160" cy="196596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754880" y="150876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1527048"/>
            <a:ext cx="402336" cy="402336"/>
          </a:xfrm>
          <a:prstGeom prst="rect">
            <a:avLst/>
          </a:prstGeom>
          <a:noFill/>
        </p:spPr>
        <p:txBody>
          <a:bodyPr wrap="none">
            <a:spAutoFit/>
          </a:bodyPr>
          <a:lstStyle/>
          <a:p>
            <a:pPr algn="ctr"/>
            <a:r>
              <a:rPr sz="1400" b="1">
                <a:solidFill>
                  <a:srgbClr val="070D1C"/>
                </a:solidFill>
                <a:latin typeface="Inter"/>
              </a:rPr>
              <a:t>2</a:t>
            </a:r>
          </a:p>
        </p:txBody>
      </p:sp>
      <p:sp>
        <p:nvSpPr>
          <p:cNvPr id="14" name="TextBox 13"/>
          <p:cNvSpPr txBox="1"/>
          <p:nvPr/>
        </p:nvSpPr>
        <p:spPr>
          <a:xfrm>
            <a:off x="5257800" y="1508760"/>
            <a:ext cx="2743200" cy="1645920"/>
          </a:xfrm>
          <a:prstGeom prst="rect">
            <a:avLst/>
          </a:prstGeom>
          <a:noFill/>
        </p:spPr>
        <p:txBody>
          <a:bodyPr wrap="none">
            <a:spAutoFit/>
          </a:bodyPr>
          <a:lstStyle/>
          <a:p>
            <a:r>
              <a:rPr b="1" sz="1600">
                <a:solidFill>
                  <a:srgbClr val="E6EEFC"/>
                </a:solidFill>
                <a:latin typeface="Poppins"/>
              </a:rPr>
              <a:t>Vector Retrieval</a:t>
            </a:r>
          </a:p>
          <a:p>
            <a:r>
              <a:rPr sz="1250">
                <a:solidFill>
                  <a:srgbClr val="A6B4D1"/>
                </a:solidFill>
                <a:latin typeface="Inter"/>
              </a:rPr>
              <a:t>Semantic search across legal texts and FAQs.</a:t>
            </a:r>
          </a:p>
        </p:txBody>
      </p:sp>
      <p:sp>
        <p:nvSpPr>
          <p:cNvPr id="15" name="Rounded Rectangle 14"/>
          <p:cNvSpPr/>
          <p:nvPr/>
        </p:nvSpPr>
        <p:spPr>
          <a:xfrm>
            <a:off x="8412480" y="1325880"/>
            <a:ext cx="3566160" cy="196596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95360" y="150876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1527048"/>
            <a:ext cx="402336" cy="402336"/>
          </a:xfrm>
          <a:prstGeom prst="rect">
            <a:avLst/>
          </a:prstGeom>
          <a:noFill/>
        </p:spPr>
        <p:txBody>
          <a:bodyPr wrap="none">
            <a:spAutoFit/>
          </a:bodyPr>
          <a:lstStyle/>
          <a:p>
            <a:pPr algn="ctr"/>
            <a:r>
              <a:rPr sz="1400" b="1">
                <a:solidFill>
                  <a:srgbClr val="070D1C"/>
                </a:solidFill>
                <a:latin typeface="Inter"/>
              </a:rPr>
              <a:t>3</a:t>
            </a:r>
          </a:p>
        </p:txBody>
      </p:sp>
      <p:sp>
        <p:nvSpPr>
          <p:cNvPr id="18" name="TextBox 17"/>
          <p:cNvSpPr txBox="1"/>
          <p:nvPr/>
        </p:nvSpPr>
        <p:spPr>
          <a:xfrm>
            <a:off x="9098280" y="1508760"/>
            <a:ext cx="2743200" cy="1645920"/>
          </a:xfrm>
          <a:prstGeom prst="rect">
            <a:avLst/>
          </a:prstGeom>
          <a:noFill/>
        </p:spPr>
        <p:txBody>
          <a:bodyPr wrap="none">
            <a:spAutoFit/>
          </a:bodyPr>
          <a:lstStyle/>
          <a:p>
            <a:r>
              <a:rPr b="1" sz="1600">
                <a:solidFill>
                  <a:srgbClr val="E6EEFC"/>
                </a:solidFill>
                <a:latin typeface="Poppins"/>
              </a:rPr>
              <a:t>Security Controls</a:t>
            </a:r>
          </a:p>
          <a:p>
            <a:r>
              <a:rPr sz="1250">
                <a:solidFill>
                  <a:srgbClr val="A6B4D1"/>
                </a:solidFill>
                <a:latin typeface="Inter"/>
              </a:rPr>
              <a:t>AES-256, TLS, biometrics, RBAC, audit logs, backups.</a:t>
            </a:r>
          </a:p>
        </p:txBody>
      </p:sp>
      <p:sp>
        <p:nvSpPr>
          <p:cNvPr id="19" name="Rounded Rectangle 18"/>
          <p:cNvSpPr/>
          <p:nvPr/>
        </p:nvSpPr>
        <p:spPr>
          <a:xfrm>
            <a:off x="731520" y="3566160"/>
            <a:ext cx="3566160" cy="196596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4400" y="374904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767328"/>
            <a:ext cx="402336" cy="402336"/>
          </a:xfrm>
          <a:prstGeom prst="rect">
            <a:avLst/>
          </a:prstGeom>
          <a:noFill/>
        </p:spPr>
        <p:txBody>
          <a:bodyPr wrap="none">
            <a:spAutoFit/>
          </a:bodyPr>
          <a:lstStyle/>
          <a:p>
            <a:pPr algn="ctr"/>
            <a:r>
              <a:rPr sz="1400" b="1">
                <a:solidFill>
                  <a:srgbClr val="070D1C"/>
                </a:solidFill>
                <a:latin typeface="Inter"/>
              </a:rPr>
              <a:t>4</a:t>
            </a:r>
          </a:p>
        </p:txBody>
      </p:sp>
      <p:sp>
        <p:nvSpPr>
          <p:cNvPr id="22" name="TextBox 21"/>
          <p:cNvSpPr txBox="1"/>
          <p:nvPr/>
        </p:nvSpPr>
        <p:spPr>
          <a:xfrm>
            <a:off x="1417320" y="3749040"/>
            <a:ext cx="2743200" cy="1645920"/>
          </a:xfrm>
          <a:prstGeom prst="rect">
            <a:avLst/>
          </a:prstGeom>
          <a:noFill/>
        </p:spPr>
        <p:txBody>
          <a:bodyPr wrap="none">
            <a:spAutoFit/>
          </a:bodyPr>
          <a:lstStyle/>
          <a:p>
            <a:r>
              <a:rPr b="1" sz="1600">
                <a:solidFill>
                  <a:srgbClr val="E6EEFC"/>
                </a:solidFill>
                <a:latin typeface="Poppins"/>
              </a:rPr>
              <a:t>Enterprise AI</a:t>
            </a:r>
          </a:p>
          <a:p>
            <a:r>
              <a:rPr sz="1250">
                <a:solidFill>
                  <a:srgbClr val="A6B4D1"/>
                </a:solidFill>
                <a:latin typeface="Inter"/>
              </a:rPr>
              <a:t>RAG on Vertex AI-style stack to improve relevance.</a:t>
            </a:r>
          </a:p>
        </p:txBody>
      </p:sp>
      <p:sp>
        <p:nvSpPr>
          <p:cNvPr id="23" name="Rounded Rectangle 22"/>
          <p:cNvSpPr/>
          <p:nvPr/>
        </p:nvSpPr>
        <p:spPr>
          <a:xfrm>
            <a:off x="4572000" y="3566160"/>
            <a:ext cx="3566160" cy="196596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754880" y="3749040"/>
            <a:ext cx="402336" cy="402336"/>
          </a:xfrm>
          <a:prstGeom prst="ellipse">
            <a:avLst/>
          </a:prstGeom>
          <a:solidFill>
            <a:srgbClr val="2997FF"/>
          </a:solidFill>
          <a:ln>
            <a:solidFill>
              <a:srgbClr val="299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3767328"/>
            <a:ext cx="402336" cy="402336"/>
          </a:xfrm>
          <a:prstGeom prst="rect">
            <a:avLst/>
          </a:prstGeom>
          <a:noFill/>
        </p:spPr>
        <p:txBody>
          <a:bodyPr wrap="none">
            <a:spAutoFit/>
          </a:bodyPr>
          <a:lstStyle/>
          <a:p>
            <a:pPr algn="ctr"/>
            <a:r>
              <a:rPr sz="1400" b="1">
                <a:solidFill>
                  <a:srgbClr val="070D1C"/>
                </a:solidFill>
                <a:latin typeface="Inter"/>
              </a:rPr>
              <a:t>5</a:t>
            </a:r>
          </a:p>
        </p:txBody>
      </p:sp>
      <p:sp>
        <p:nvSpPr>
          <p:cNvPr id="26" name="TextBox 25"/>
          <p:cNvSpPr txBox="1"/>
          <p:nvPr/>
        </p:nvSpPr>
        <p:spPr>
          <a:xfrm>
            <a:off x="5257800" y="3749040"/>
            <a:ext cx="2743200" cy="1645920"/>
          </a:xfrm>
          <a:prstGeom prst="rect">
            <a:avLst/>
          </a:prstGeom>
          <a:noFill/>
        </p:spPr>
        <p:txBody>
          <a:bodyPr wrap="none">
            <a:spAutoFit/>
          </a:bodyPr>
          <a:lstStyle/>
          <a:p>
            <a:r>
              <a:rPr b="1" sz="1600">
                <a:solidFill>
                  <a:srgbClr val="E6EEFC"/>
                </a:solidFill>
                <a:latin typeface="Poppins"/>
              </a:rPr>
              <a:t>Agile Delivery</a:t>
            </a:r>
          </a:p>
          <a:p>
            <a:r>
              <a:rPr sz="1250">
                <a:solidFill>
                  <a:srgbClr val="A6B4D1"/>
                </a:solidFill>
                <a:latin typeface="Inter"/>
              </a:rPr>
              <a:t>MVP sprints, feedback loops, and localization readiness.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70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5029200" cy="5029200"/>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89520" y="1920240"/>
            <a:ext cx="5029200" cy="5029200"/>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88952" cy="1463040"/>
          </a:xfrm>
          <a:prstGeom prst="rect">
            <a:avLst/>
          </a:prstGeom>
          <a:solidFill>
            <a:srgbClr val="111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
            <a:ext cx="7315200" cy="914400"/>
          </a:xfrm>
          <a:prstGeom prst="rect">
            <a:avLst/>
          </a:prstGeom>
          <a:noFill/>
        </p:spPr>
        <p:txBody>
          <a:bodyPr wrap="none">
            <a:spAutoFit/>
          </a:bodyPr>
          <a:lstStyle/>
          <a:p>
            <a:r>
              <a:rPr sz="3400" b="1">
                <a:solidFill>
                  <a:srgbClr val="2997FF"/>
                </a:solidFill>
                <a:latin typeface="Poppins"/>
              </a:rPr>
              <a:t>Traction Model &amp; Unit Economics</a:t>
            </a:r>
          </a:p>
        </p:txBody>
      </p:sp>
      <p:sp>
        <p:nvSpPr>
          <p:cNvPr id="7" name="Rounded Rectangle 6"/>
          <p:cNvSpPr/>
          <p:nvPr/>
        </p:nvSpPr>
        <p:spPr>
          <a:xfrm>
            <a:off x="777240" y="1325880"/>
            <a:ext cx="3566160" cy="192024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3108960" cy="731520"/>
          </a:xfrm>
          <a:prstGeom prst="rect">
            <a:avLst/>
          </a:prstGeom>
          <a:noFill/>
        </p:spPr>
        <p:txBody>
          <a:bodyPr wrap="none">
            <a:spAutoFit/>
          </a:bodyPr>
          <a:lstStyle/>
          <a:p>
            <a:r>
              <a:rPr sz="3600" b="1">
                <a:solidFill>
                  <a:srgbClr val="2997FF"/>
                </a:solidFill>
                <a:latin typeface="Poppins"/>
              </a:rPr>
              <a:t>$15</a:t>
            </a:r>
          </a:p>
        </p:txBody>
      </p:sp>
      <p:sp>
        <p:nvSpPr>
          <p:cNvPr id="9" name="TextBox 8"/>
          <p:cNvSpPr txBox="1"/>
          <p:nvPr/>
        </p:nvSpPr>
        <p:spPr>
          <a:xfrm>
            <a:off x="1005840" y="2331720"/>
            <a:ext cx="3108960" cy="548640"/>
          </a:xfrm>
          <a:prstGeom prst="rect">
            <a:avLst/>
          </a:prstGeom>
          <a:noFill/>
        </p:spPr>
        <p:txBody>
          <a:bodyPr wrap="none">
            <a:spAutoFit/>
          </a:bodyPr>
          <a:lstStyle/>
          <a:p>
            <a:r>
              <a:rPr sz="1300">
                <a:solidFill>
                  <a:srgbClr val="A6B4D1"/>
                </a:solidFill>
                <a:latin typeface="Inter"/>
              </a:rPr>
              <a:t>Monthly subscription per user</a:t>
            </a:r>
          </a:p>
        </p:txBody>
      </p:sp>
      <p:sp>
        <p:nvSpPr>
          <p:cNvPr id="10" name="Rounded Rectangle 9"/>
          <p:cNvSpPr/>
          <p:nvPr/>
        </p:nvSpPr>
        <p:spPr>
          <a:xfrm>
            <a:off x="4617720" y="1325880"/>
            <a:ext cx="3566160" cy="192024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600200"/>
            <a:ext cx="3108960" cy="731520"/>
          </a:xfrm>
          <a:prstGeom prst="rect">
            <a:avLst/>
          </a:prstGeom>
          <a:noFill/>
        </p:spPr>
        <p:txBody>
          <a:bodyPr wrap="none">
            <a:spAutoFit/>
          </a:bodyPr>
          <a:lstStyle/>
          <a:p>
            <a:r>
              <a:rPr sz="3600" b="1">
                <a:solidFill>
                  <a:srgbClr val="2997FF"/>
                </a:solidFill>
                <a:latin typeface="Poppins"/>
              </a:rPr>
              <a:t>$150K MRR</a:t>
            </a:r>
          </a:p>
        </p:txBody>
      </p:sp>
      <p:sp>
        <p:nvSpPr>
          <p:cNvPr id="12" name="TextBox 11"/>
          <p:cNvSpPr txBox="1"/>
          <p:nvPr/>
        </p:nvSpPr>
        <p:spPr>
          <a:xfrm>
            <a:off x="4846320" y="2331720"/>
            <a:ext cx="3108960" cy="548640"/>
          </a:xfrm>
          <a:prstGeom prst="rect">
            <a:avLst/>
          </a:prstGeom>
          <a:noFill/>
        </p:spPr>
        <p:txBody>
          <a:bodyPr wrap="none">
            <a:spAutoFit/>
          </a:bodyPr>
          <a:lstStyle/>
          <a:p>
            <a:r>
              <a:rPr sz="1300">
                <a:solidFill>
                  <a:srgbClr val="A6B4D1"/>
                </a:solidFill>
                <a:latin typeface="Inter"/>
              </a:rPr>
              <a:t>10,000 subscribers × $15</a:t>
            </a:r>
          </a:p>
        </p:txBody>
      </p:sp>
      <p:sp>
        <p:nvSpPr>
          <p:cNvPr id="13" name="Rounded Rectangle 12"/>
          <p:cNvSpPr/>
          <p:nvPr/>
        </p:nvSpPr>
        <p:spPr>
          <a:xfrm>
            <a:off x="8458200" y="1325880"/>
            <a:ext cx="3566160" cy="192024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0" y="1600200"/>
            <a:ext cx="3108960" cy="731520"/>
          </a:xfrm>
          <a:prstGeom prst="rect">
            <a:avLst/>
          </a:prstGeom>
          <a:noFill/>
        </p:spPr>
        <p:txBody>
          <a:bodyPr wrap="none">
            <a:spAutoFit/>
          </a:bodyPr>
          <a:lstStyle/>
          <a:p>
            <a:r>
              <a:rPr sz="3600" b="1">
                <a:solidFill>
                  <a:srgbClr val="2997FF"/>
                </a:solidFill>
                <a:latin typeface="Poppins"/>
              </a:rPr>
              <a:t>~$40K</a:t>
            </a:r>
          </a:p>
        </p:txBody>
      </p:sp>
      <p:sp>
        <p:nvSpPr>
          <p:cNvPr id="15" name="TextBox 14"/>
          <p:cNvSpPr txBox="1"/>
          <p:nvPr/>
        </p:nvSpPr>
        <p:spPr>
          <a:xfrm>
            <a:off x="8686800" y="2331720"/>
            <a:ext cx="3108960" cy="548640"/>
          </a:xfrm>
          <a:prstGeom prst="rect">
            <a:avLst/>
          </a:prstGeom>
          <a:noFill/>
        </p:spPr>
        <p:txBody>
          <a:bodyPr wrap="none">
            <a:spAutoFit/>
          </a:bodyPr>
          <a:lstStyle/>
          <a:p>
            <a:r>
              <a:rPr sz="1300">
                <a:solidFill>
                  <a:srgbClr val="A6B4D1"/>
                </a:solidFill>
                <a:latin typeface="Inter"/>
              </a:rPr>
              <a:t>Estimated monthly cloud + ops cost</a:t>
            </a:r>
          </a:p>
        </p:txBody>
      </p:sp>
      <p:sp>
        <p:nvSpPr>
          <p:cNvPr id="16" name="TextBox 15"/>
          <p:cNvSpPr txBox="1"/>
          <p:nvPr/>
        </p:nvSpPr>
        <p:spPr>
          <a:xfrm>
            <a:off x="822960" y="3566160"/>
            <a:ext cx="10789920" cy="822960"/>
          </a:xfrm>
          <a:prstGeom prst="rect">
            <a:avLst/>
          </a:prstGeom>
          <a:noFill/>
        </p:spPr>
        <p:txBody>
          <a:bodyPr wrap="none">
            <a:spAutoFit/>
          </a:bodyPr>
          <a:lstStyle/>
          <a:p>
            <a:r>
              <a:rPr sz="1600">
                <a:solidFill>
                  <a:srgbClr val="E6EEFC"/>
                </a:solidFill>
                <a:latin typeface="Inter"/>
              </a:rPr>
              <a:t>Compared with ~$600 for a typical 2-hour legal consultation, RonyGuard targets affordability and recurring revenue.</a:t>
            </a:r>
          </a:p>
        </p:txBody>
      </p:sp>
      <p:sp>
        <p:nvSpPr>
          <p:cNvPr id="17" name="TextBox 16"/>
          <p:cNvSpPr txBox="1"/>
          <p:nvPr/>
        </p:nvSpPr>
        <p:spPr>
          <a:xfrm>
            <a:off x="822960" y="4389120"/>
            <a:ext cx="2286000" cy="365760"/>
          </a:xfrm>
          <a:prstGeom prst="rect">
            <a:avLst/>
          </a:prstGeom>
          <a:noFill/>
        </p:spPr>
        <p:txBody>
          <a:bodyPr wrap="none">
            <a:spAutoFit/>
          </a:bodyPr>
          <a:lstStyle/>
          <a:p>
            <a:r>
              <a:rPr sz="1600">
                <a:solidFill>
                  <a:srgbClr val="00D6C9"/>
                </a:solidFill>
                <a:latin typeface="Inter"/>
              </a:rPr>
              <a:t>Roadmap to scale</a:t>
            </a:r>
          </a:p>
        </p:txBody>
      </p:sp>
      <p:sp>
        <p:nvSpPr>
          <p:cNvPr id="18" name="Rectangle 17"/>
          <p:cNvSpPr/>
          <p:nvPr/>
        </p:nvSpPr>
        <p:spPr>
          <a:xfrm>
            <a:off x="914400" y="4983480"/>
            <a:ext cx="9875520" cy="45720"/>
          </a:xfrm>
          <a:prstGeom prst="rect">
            <a:avLst/>
          </a:prstGeom>
          <a:solidFill>
            <a:srgbClr val="466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97280" y="4846320"/>
            <a:ext cx="292608" cy="292608"/>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193792"/>
            <a:ext cx="1280160" cy="274320"/>
          </a:xfrm>
          <a:prstGeom prst="rect">
            <a:avLst/>
          </a:prstGeom>
          <a:noFill/>
        </p:spPr>
        <p:txBody>
          <a:bodyPr wrap="none">
            <a:spAutoFit/>
          </a:bodyPr>
          <a:lstStyle/>
          <a:p>
            <a:pPr algn="ctr"/>
            <a:r>
              <a:rPr sz="1150">
                <a:solidFill>
                  <a:srgbClr val="A6B4D1"/>
                </a:solidFill>
                <a:latin typeface="Inter"/>
              </a:rPr>
              <a:t>MVP</a:t>
            </a:r>
          </a:p>
        </p:txBody>
      </p:sp>
      <p:sp>
        <p:nvSpPr>
          <p:cNvPr id="21" name="Oval 20"/>
          <p:cNvSpPr/>
          <p:nvPr/>
        </p:nvSpPr>
        <p:spPr>
          <a:xfrm>
            <a:off x="4114800" y="4846320"/>
            <a:ext cx="292608" cy="292608"/>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4760" y="5193792"/>
            <a:ext cx="1280160" cy="274320"/>
          </a:xfrm>
          <a:prstGeom prst="rect">
            <a:avLst/>
          </a:prstGeom>
          <a:noFill/>
        </p:spPr>
        <p:txBody>
          <a:bodyPr wrap="none">
            <a:spAutoFit/>
          </a:bodyPr>
          <a:lstStyle/>
          <a:p>
            <a:pPr algn="ctr"/>
            <a:r>
              <a:rPr sz="1150">
                <a:solidFill>
                  <a:srgbClr val="A6B4D1"/>
                </a:solidFill>
                <a:latin typeface="Inter"/>
              </a:rPr>
              <a:t>Pilot</a:t>
            </a:r>
          </a:p>
        </p:txBody>
      </p:sp>
      <p:sp>
        <p:nvSpPr>
          <p:cNvPr id="23" name="Oval 22"/>
          <p:cNvSpPr/>
          <p:nvPr/>
        </p:nvSpPr>
        <p:spPr>
          <a:xfrm>
            <a:off x="7132320" y="4846320"/>
            <a:ext cx="292608" cy="292608"/>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5193792"/>
            <a:ext cx="1280160" cy="274320"/>
          </a:xfrm>
          <a:prstGeom prst="rect">
            <a:avLst/>
          </a:prstGeom>
          <a:noFill/>
        </p:spPr>
        <p:txBody>
          <a:bodyPr wrap="none">
            <a:spAutoFit/>
          </a:bodyPr>
          <a:lstStyle/>
          <a:p>
            <a:pPr algn="ctr"/>
            <a:r>
              <a:rPr sz="1150">
                <a:solidFill>
                  <a:srgbClr val="A6B4D1"/>
                </a:solidFill>
                <a:latin typeface="Inter"/>
              </a:rPr>
              <a:t>Regional Launch</a:t>
            </a:r>
          </a:p>
        </p:txBody>
      </p:sp>
      <p:sp>
        <p:nvSpPr>
          <p:cNvPr id="25" name="Oval 24"/>
          <p:cNvSpPr/>
          <p:nvPr/>
        </p:nvSpPr>
        <p:spPr>
          <a:xfrm>
            <a:off x="10149839" y="4846320"/>
            <a:ext cx="292608" cy="292608"/>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9799" y="5193792"/>
            <a:ext cx="1280160" cy="274320"/>
          </a:xfrm>
          <a:prstGeom prst="rect">
            <a:avLst/>
          </a:prstGeom>
          <a:noFill/>
        </p:spPr>
        <p:txBody>
          <a:bodyPr wrap="none">
            <a:spAutoFit/>
          </a:bodyPr>
          <a:lstStyle/>
          <a:p>
            <a:pPr algn="ctr"/>
            <a:r>
              <a:rPr sz="1150">
                <a:solidFill>
                  <a:srgbClr val="A6B4D1"/>
                </a:solidFill>
                <a:latin typeface="Inter"/>
              </a:rPr>
              <a:t>Multi-jurisdiction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70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5029200" cy="5029200"/>
          </a:xfrm>
          <a:prstGeom prst="ellipse">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89520" y="1920240"/>
            <a:ext cx="5029200" cy="5029200"/>
          </a:xfrm>
          <a:prstGeom prst="ellipse">
            <a:avLst/>
          </a:prstGeom>
          <a:solidFill>
            <a:srgbClr val="00D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88952" cy="1463040"/>
          </a:xfrm>
          <a:prstGeom prst="rect">
            <a:avLst/>
          </a:prstGeom>
          <a:solidFill>
            <a:srgbClr val="111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188720"/>
            <a:ext cx="9601200" cy="1097280"/>
          </a:xfrm>
          <a:prstGeom prst="rect">
            <a:avLst/>
          </a:prstGeom>
          <a:noFill/>
        </p:spPr>
        <p:txBody>
          <a:bodyPr wrap="none">
            <a:spAutoFit/>
          </a:bodyPr>
          <a:lstStyle/>
          <a:p>
            <a:r>
              <a:rPr sz="4800" b="1">
                <a:solidFill>
                  <a:srgbClr val="2997FF"/>
                </a:solidFill>
                <a:latin typeface="Poppins"/>
              </a:rPr>
              <a:t>Close the Justice Gap, at Scale.</a:t>
            </a:r>
          </a:p>
        </p:txBody>
      </p:sp>
      <p:sp>
        <p:nvSpPr>
          <p:cNvPr id="7" name="TextBox 6"/>
          <p:cNvSpPr txBox="1"/>
          <p:nvPr/>
        </p:nvSpPr>
        <p:spPr>
          <a:xfrm>
            <a:off x="1005840" y="2331720"/>
            <a:ext cx="9692640" cy="914400"/>
          </a:xfrm>
          <a:prstGeom prst="rect">
            <a:avLst/>
          </a:prstGeom>
          <a:noFill/>
        </p:spPr>
        <p:txBody>
          <a:bodyPr wrap="none">
            <a:spAutoFit/>
          </a:bodyPr>
          <a:lstStyle/>
          <a:p>
            <a:r>
              <a:rPr sz="2200">
                <a:solidFill>
                  <a:srgbClr val="E6EEFC"/>
                </a:solidFill>
                <a:latin typeface="Inter"/>
              </a:rPr>
              <a:t>RonyGuard combines AI + modern MIS to deliver accessible legal-rights support when people need it most.</a:t>
            </a:r>
          </a:p>
        </p:txBody>
      </p:sp>
      <p:sp>
        <p:nvSpPr>
          <p:cNvPr id="8" name="Rounded Rectangle 7"/>
          <p:cNvSpPr/>
          <p:nvPr/>
        </p:nvSpPr>
        <p:spPr>
          <a:xfrm>
            <a:off x="1005840" y="3794760"/>
            <a:ext cx="2834640" cy="822960"/>
          </a:xfrm>
          <a:prstGeom prst="roundRect">
            <a:avLst/>
          </a:prstGeom>
          <a:solidFill>
            <a:srgbClr val="299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986784"/>
            <a:ext cx="2834640" cy="457200"/>
          </a:xfrm>
          <a:prstGeom prst="rect">
            <a:avLst/>
          </a:prstGeom>
          <a:noFill/>
        </p:spPr>
        <p:txBody>
          <a:bodyPr wrap="none">
            <a:spAutoFit/>
          </a:bodyPr>
          <a:lstStyle/>
          <a:p>
            <a:pPr algn="ctr"/>
            <a:r>
              <a:rPr b="1" sz="1800">
                <a:solidFill>
                  <a:srgbClr val="070D1C"/>
                </a:solidFill>
                <a:latin typeface="Poppins"/>
              </a:rPr>
              <a:t>Request a Demo</a:t>
            </a:r>
          </a:p>
        </p:txBody>
      </p:sp>
      <p:sp>
        <p:nvSpPr>
          <p:cNvPr id="10" name="TextBox 9"/>
          <p:cNvSpPr txBox="1"/>
          <p:nvPr/>
        </p:nvSpPr>
        <p:spPr>
          <a:xfrm>
            <a:off x="1005840" y="4800600"/>
            <a:ext cx="7315200" cy="365760"/>
          </a:xfrm>
          <a:prstGeom prst="rect">
            <a:avLst/>
          </a:prstGeom>
          <a:noFill/>
        </p:spPr>
        <p:txBody>
          <a:bodyPr wrap="none">
            <a:spAutoFit/>
          </a:bodyPr>
          <a:lstStyle/>
          <a:p>
            <a:r>
              <a:rPr sz="1300">
                <a:solidFill>
                  <a:srgbClr val="A6B4D1"/>
                </a:solidFill>
                <a:latin typeface="Inter"/>
              </a:rPr>
              <a:t>Contact: ronald.kipkemboi@example.com  ·  ronyguard.app (placeholder)</a:t>
            </a:r>
          </a:p>
        </p:txBody>
      </p:sp>
      <p:sp>
        <p:nvSpPr>
          <p:cNvPr id="11" name="Rounded Rectangle 10"/>
          <p:cNvSpPr/>
          <p:nvPr/>
        </p:nvSpPr>
        <p:spPr>
          <a:xfrm>
            <a:off x="7315200" y="3611880"/>
            <a:ext cx="3566160" cy="1554480"/>
          </a:xfrm>
          <a:prstGeom prst="roundRect">
            <a:avLst/>
          </a:prstGeom>
          <a:solidFill>
            <a:srgbClr val="16213D"/>
          </a:solidFill>
          <a:ln w="15240">
            <a:solidFill>
              <a:srgbClr val="3A518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71232" y="3794760"/>
            <a:ext cx="3054096" cy="1234440"/>
          </a:xfrm>
          <a:prstGeom prst="rect">
            <a:avLst/>
          </a:prstGeom>
          <a:noFill/>
        </p:spPr>
        <p:txBody>
          <a:bodyPr wrap="none">
            <a:spAutoFit/>
          </a:bodyPr>
          <a:lstStyle/>
          <a:p>
            <a:r>
              <a:rPr sz="2000" b="1">
                <a:solidFill>
                  <a:srgbClr val="E6EEFC"/>
                </a:solidFill>
                <a:latin typeface="Poppins"/>
              </a:rPr>
              <a:t>Visual Placeholder</a:t>
            </a:r>
          </a:p>
          <a:p>
            <a:pPr/>
            <a:r>
              <a:rPr sz="1800">
                <a:solidFill>
                  <a:srgbClr val="A6B4D1"/>
                </a:solidFill>
                <a:latin typeface="Inter"/>
              </a:rPr>
              <a:t>• Add product screenshot or QR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