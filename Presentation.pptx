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t>Cost Comparison: Traditional Lawyer vs RonyGuard Subscription</a:t>
            </a:r>
          </a:p>
        </c:rich>
      </c:tx>
      <c:layout/>
      <c:overlay val="0"/>
    </c:title>
    <c:autoTitleDeleted val="0"/>
    <c:plotArea>
      <c:barChart>
        <c:barDir val="col"/>
        <c:grouping val="clustered"/>
        <c:ser>
          <c:idx val="0"/>
          <c:order val="0"/>
          <c:tx>
            <c:strRef>
              <c:f>Sheet1!$B$1</c:f>
              <c:strCache>
                <c:ptCount val="1"/>
                <c:pt idx="0">
                  <c:v>Cost (USD)</c:v>
                </c:pt>
              </c:strCache>
            </c:strRef>
          </c:tx>
          <c:spPr>
            <a:solidFill>
              <a:srgbClr val="235399"/>
            </a:solidFill>
            <a:ln>
              <a:noFill/>
            </a:ln>
          </c:spPr>
          <c:cat>
            <c:strRef>
              <c:f>Sheet1!$A$2:$A$3</c:f>
              <c:strCache>
                <c:ptCount val="2"/>
                <c:pt idx="0">
                  <c:v>Traditional Lawyer</c:v>
                </c:pt>
                <c:pt idx="1">
                  <c:v>RonyGuard Subscription</c:v>
                </c:pt>
              </c:strCache>
            </c:strRef>
          </c:cat>
          <c:val>
            <c:numRef>
              <c:f>Sheet1!$B$2:$B$3</c:f>
              <c:numCache>
                <c:formatCode>General</c:formatCode>
                <c:ptCount val="2"/>
                <c:pt idx="0">
                  <c:v>600</c:v>
                </c:pt>
                <c:pt idx="1">
                  <c:v>15</c:v>
                </c:pt>
              </c:numCache>
            </c:numRef>
          </c:val>
        </c:ser>
        <c:axId val="-2068027336"/>
        <c:axId val="-2113994440"/>
      </c:barChart>
      <c:catAx>
        <c:axId val="-2068027336"/>
        <c:scaling>
          <c:orientation val="minMax"/>
        </c:scaling>
        <c:delete val="0"/>
        <c:axPos val="b"/>
        <c:title>
          <c:tx>
            <c:rich>
              <a:bodyPr/>
              <a:lstStyle/>
              <a:p>
                <a:r>
                  <a:t>Service Type</a:t>
                </a:r>
              </a:p>
            </c:rich>
          </c:tx>
          <c:layout/>
          <c:overlay val="0"/>
        </c:title>
        <c:majorTickMark val="out"/>
        <c:minorTickMark val="none"/>
        <c:tickLblPos val="nextTo"/>
        <c:crossAx val="-2113994440"/>
        <c:crosses val="autoZero"/>
        <c:auto val="1"/>
        <c:lblAlgn val="ctr"/>
        <c:lblOffset val="100"/>
        <c:noMultiLvlLbl val="0"/>
      </c:catAx>
      <c:valAx>
        <c:axId val="-2113994440"/>
        <c:scaling>
          <c:max val="320.0"/>
          <c:min val="0.0"/>
        </c:scaling>
        <c:delete val="0"/>
        <c:axPos val="l"/>
        <c:majorGridlines/>
        <c:title>
          <c:tx>
            <c:rich>
              <a:bodyPr/>
              <a:lstStyle/>
              <a:p>
                <a:r>
                  <a:t>Cost (USD)</a:t>
                </a:r>
              </a:p>
            </c:rich>
          </c:tx>
          <c:layout/>
          <c:overlay val="0"/>
        </c:title>
        <c:majorTickMark val="out"/>
        <c:minorTickMark val="none"/>
        <c:tickLblPos val="nextTo"/>
        <c:crossAx val="-2068027336"/>
        <c:crosses val="autoZero"/>
        <c:majorUnit val="5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RonyGuard is a class concept, not a launched company. I will use future language throughout: the proposed app would provide real-time legal-rights guidance. This establishes the required fictitious (F) designation clearly before discussing the business case.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define the problem in business terms, not only technical terms. The unmet need is large, frequent, and costly, creating a strong market opportunity. RonyGuard would target moments where conventional legal services are unavailable or unaffordable.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root causes, not a restatement of the problem. The justice gap persists because process, system, data, security, and strategy issues reinforce each other. This analysis justifies why a technology-enabled model is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business model to platform choices. SaaS supports predictable recurring revenue, while PaaS supports rapid scaling and lower operational burden. The value proposition is improved access at lower cost with sustainable economics.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Vector databases store embeddings so the system retrieves by meaning, not just keywords. Retrieval-augmented generation grounds model responses in trusted legal sources, which helps reduce hallucinations. Security is handled through encryption, access control, auditing, and resilience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left-to-right on the chart: traditional legal help is high-cost and episodic, while RonyGuard is low-cost and recurring. Then I connect MRR and ARR to subscription scalability, followed by estimated operating costs and margin potential. This directly satisfies the rubric requirement for revenue-and-expense visualization tied to the business case.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RonyGuard is a realistic but fictitious model showing how MIS concepts can produce both social impact and business value. I am happy to answer questions on architecture, security controls, and financial assumptions.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Section 1 – Public or Fictitious Company: RonyGuard</a:t>
            </a:r>
          </a:p>
        </p:txBody>
      </p:sp>
      <p:sp>
        <p:nvSpPr>
          <p:cNvPr id="3" name="TextBox 2"/>
          <p:cNvSpPr txBox="1"/>
          <p:nvPr/>
        </p:nvSpPr>
        <p:spPr>
          <a:xfrm>
            <a:off x="457200" y="1005840"/>
            <a:ext cx="6217920" cy="3291840"/>
          </a:xfrm>
          <a:prstGeom prst="rect">
            <a:avLst/>
          </a:prstGeom>
          <a:noFill/>
        </p:spPr>
        <p:txBody>
          <a:bodyPr wrap="square">
            <a:spAutoFit/>
          </a:bodyPr>
          <a:lstStyle/>
          <a:p>
            <a:pPr>
              <a:spcAft>
                <a:spcPts val="800"/>
              </a:spcAft>
              <a:defRPr sz="2400">
                <a:solidFill>
                  <a:srgbClr val="191919"/>
                </a:solidFill>
              </a:defRPr>
            </a:pPr>
            <a:r>
              <a:t>Company Type: Fictitious (F)</a:t>
            </a:r>
          </a:p>
          <a:p>
            <a:pPr/>
            <a:r>
              <a:t>RonyGuard is a fictitious (F) legal-technology startup created for this CIS-421 project.</a:t>
            </a:r>
          </a:p>
          <a:p>
            <a:pPr/>
            <a:r>
              <a:t>Industry: Legal technology / justice access; proposed mobile + cloud legal rights assistant.</a:t>
            </a:r>
          </a:p>
          <a:p>
            <a:pPr/>
            <a:r>
              <a:t>Mission: RonyGuard plans to make legal-rights guidance fast, affordable, and privacy-preserving.</a:t>
            </a:r>
          </a:p>
          <a:p>
            <a:pPr/>
            <a:r>
              <a:t>Presented by Ronald Kipkemboi | CIS-421 | Shaw University | Spring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Section 2 – Defined the Problem: The Justice Gap &amp; Legal Amnesia</a:t>
            </a:r>
          </a:p>
        </p:txBody>
      </p:sp>
      <p:sp>
        <p:nvSpPr>
          <p:cNvPr id="3" name="TextBox 2"/>
          <p:cNvSpPr txBox="1"/>
          <p:nvPr/>
        </p:nvSpPr>
        <p:spPr>
          <a:xfrm>
            <a:off x="457200" y="1005840"/>
            <a:ext cx="6217920" cy="3291840"/>
          </a:xfrm>
          <a:prstGeom prst="rect">
            <a:avLst/>
          </a:prstGeom>
          <a:noFill/>
        </p:spPr>
        <p:txBody>
          <a:bodyPr wrap="square">
            <a:spAutoFit/>
          </a:bodyPr>
          <a:lstStyle/>
          <a:p>
            <a:pPr>
              <a:spcAft>
                <a:spcPts val="800"/>
              </a:spcAft>
              <a:defRPr sz="2100">
                <a:solidFill>
                  <a:srgbClr val="191919"/>
                </a:solidFill>
              </a:defRPr>
            </a:pPr>
            <a:r>
              <a:t>Issue: During high-stress encounters, people often experience “legal amnesia” and cannot recall or apply their rights.</a:t>
            </a:r>
          </a:p>
          <a:p>
            <a:pPr/>
            <a:r>
              <a:t>Who it affects: Students, low-income individuals, and the public in police stops, landlord disputes, and workplace conflicts.</a:t>
            </a:r>
          </a:p>
          <a:p>
            <a:pPr/>
            <a:r>
              <a:t>Business impact: Traditional legal support is expensive and slow for real-time moments.</a:t>
            </a:r>
          </a:p>
          <a:p>
            <a:pPr/>
            <a:r>
              <a:t>Opportunity: This underserved market supports a scalable subscription model for proposed 24/7 guidance.</a:t>
            </a:r>
          </a:p>
          <a:p>
            <a:pPr/>
            <a:r>
              <a:t>RonyGuard would address this gap with immediate, plain-language rights assistance.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Section 3 – Identified the Root Causes of the Justice Gap</a:t>
            </a:r>
          </a:p>
        </p:txBody>
      </p:sp>
      <p:sp>
        <p:nvSpPr>
          <p:cNvPr id="3" name="TextBox 2"/>
          <p:cNvSpPr txBox="1"/>
          <p:nvPr/>
        </p:nvSpPr>
        <p:spPr>
          <a:xfrm>
            <a:off x="457200" y="1005840"/>
            <a:ext cx="6217920" cy="3291840"/>
          </a:xfrm>
          <a:prstGeom prst="rect">
            <a:avLst/>
          </a:prstGeom>
          <a:noFill/>
        </p:spPr>
        <p:txBody>
          <a:bodyPr wrap="square">
            <a:spAutoFit/>
          </a:bodyPr>
          <a:lstStyle/>
          <a:p>
            <a:pPr>
              <a:spcAft>
                <a:spcPts val="800"/>
              </a:spcAft>
              <a:defRPr sz="2100">
                <a:solidFill>
                  <a:srgbClr val="191919"/>
                </a:solidFill>
              </a:defRPr>
            </a:pPr>
            <a:r>
              <a:t>Inefficient, reactive processes: Legal help usually starts after incidents rather than during them.</a:t>
            </a:r>
          </a:p>
          <a:p>
            <a:pPr/>
            <a:r>
              <a:t>Outdated or missing information systems: Dense legal documents are hard to search quickly on mobile devices.</a:t>
            </a:r>
          </a:p>
          <a:p>
            <a:pPr/>
            <a:r>
              <a:t>Poor data management and analytics: Everyday rights questions are under-tracked, limiting service optimization.</a:t>
            </a:r>
          </a:p>
          <a:p>
            <a:pPr/>
            <a:r>
              <a:t>Security and infrastructure concerns: Fear of surveillance or misuse discourages people from seeking help.</a:t>
            </a:r>
          </a:p>
          <a:p>
            <a:pPr/>
            <a:r>
              <a:t>Organizational and strategic gaps: Billable-hour incentives reduce investment in low-cost public legal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Section 4 – Specified Solution &amp; Technology Platform (Business Perspective)</a:t>
            </a:r>
          </a:p>
        </p:txBody>
      </p:sp>
      <p:sp>
        <p:nvSpPr>
          <p:cNvPr id="3" name="TextBox 2"/>
          <p:cNvSpPr txBox="1"/>
          <p:nvPr/>
        </p:nvSpPr>
        <p:spPr>
          <a:xfrm>
            <a:off x="457200" y="1005840"/>
            <a:ext cx="6217920" cy="3291840"/>
          </a:xfrm>
          <a:prstGeom prst="rect">
            <a:avLst/>
          </a:prstGeom>
          <a:noFill/>
        </p:spPr>
        <p:txBody>
          <a:bodyPr wrap="square">
            <a:spAutoFit/>
          </a:bodyPr>
          <a:lstStyle/>
          <a:p>
            <a:pPr>
              <a:spcAft>
                <a:spcPts val="800"/>
              </a:spcAft>
              <a:defRPr sz="2100">
                <a:solidFill>
                  <a:srgbClr val="191919"/>
                </a:solidFill>
              </a:defRPr>
            </a:pPr>
            <a:r>
              <a:t>Solution: RonyGuard proposes a mobile app that would deliver real-time rights information and next-step guidance.</a:t>
            </a:r>
          </a:p>
          <a:p>
            <a:pPr/>
            <a:r>
              <a:t>SaaS: Mobile app + web portal offered as a subscription service for end users.</a:t>
            </a:r>
          </a:p>
          <a:p>
            <a:pPr/>
            <a:r>
              <a:t>PaaS: Vertex AI (or similar) would host AI inference and support scalable deployments.</a:t>
            </a:r>
          </a:p>
          <a:p>
            <a:pPr/>
            <a:r>
              <a:t>Platform fit: Reduces infrastructure overhead, accelerates releases, and supports modular legal-content expansion.</a:t>
            </a:r>
          </a:p>
          <a:p>
            <a:pPr/>
            <a:r>
              <a:t>Strategic impact: Converts one-time consultations into recurring revenue while expanding access without adding lawyers.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Section 4 (cont.) – Technology, Networking, Databases, Security, and Project Management</a:t>
            </a:r>
          </a:p>
        </p:txBody>
      </p:sp>
      <p:sp>
        <p:nvSpPr>
          <p:cNvPr id="3" name="TextBox 2"/>
          <p:cNvSpPr txBox="1"/>
          <p:nvPr/>
        </p:nvSpPr>
        <p:spPr>
          <a:xfrm>
            <a:off x="457200" y="1005840"/>
            <a:ext cx="6217920" cy="3291840"/>
          </a:xfrm>
          <a:prstGeom prst="rect">
            <a:avLst/>
          </a:prstGeom>
          <a:noFill/>
        </p:spPr>
        <p:txBody>
          <a:bodyPr wrap="square">
            <a:spAutoFit/>
          </a:bodyPr>
          <a:lstStyle/>
          <a:p>
            <a:pPr>
              <a:spcAft>
                <a:spcPts val="800"/>
              </a:spcAft>
              <a:defRPr sz="2000">
                <a:solidFill>
                  <a:srgbClr val="191919"/>
                </a:solidFill>
              </a:defRPr>
            </a:pPr>
            <a:r>
              <a:t>Networking: Mobile clients would use HTTPS REST APIs over 5G/LTE/Wi-Fi for low-latency responses.</a:t>
            </a:r>
          </a:p>
          <a:p>
            <a:pPr/>
            <a:r>
              <a:t>Data and analytics: A vector database (e.g., Pinecone) would enable semantic retrieval from legal texts and FAQs.</a:t>
            </a:r>
          </a:p>
          <a:p>
            <a:pPr/>
            <a:r>
              <a:t>Security controls: AES-256 at rest, TLS in transit, biometric app lock, RBAC, audit logs, backups, and disaster recovery.</a:t>
            </a:r>
          </a:p>
          <a:p>
            <a:pPr/>
            <a:r>
              <a:t>Enterprise AI: Vertex AI models + retrieval-augmented generation would improve relevance and reduce hallucinations.</a:t>
            </a:r>
          </a:p>
          <a:p>
            <a:pPr/>
            <a:r>
              <a:t>Development and global scope: Agile sprints, MVP feedback loops, and localization by jurisdiction/language.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Section 5 – Revenue and Expense Visualization</a:t>
            </a:r>
          </a:p>
        </p:txBody>
      </p:sp>
      <p:graphicFrame>
        <p:nvGraphicFramePr>
          <p:cNvPr id="3" name="Chart 2"/>
          <p:cNvGraphicFramePr>
            <a:graphicFrameLocks noGrp="1"/>
          </p:cNvGraphicFramePr>
          <p:nvPr/>
        </p:nvGraphicFramePr>
        <p:xfrm>
          <a:off x="822960" y="1371600"/>
          <a:ext cx="6949440" cy="4389120"/>
        </p:xfrm>
        <a:graphic>
          <a:graphicData uri="http://schemas.openxmlformats.org/drawingml/2006/chart">
            <c:chart xmlns:c="http://schemas.openxmlformats.org/drawingml/2006/chart" r:id="rId2"/>
          </a:graphicData>
        </a:graphic>
      </p:graphicFrame>
      <p:sp>
        <p:nvSpPr>
          <p:cNvPr id="4" name="TextBox 3"/>
          <p:cNvSpPr txBox="1"/>
          <p:nvPr/>
        </p:nvSpPr>
        <p:spPr>
          <a:xfrm>
            <a:off x="8046720" y="1737360"/>
            <a:ext cx="3749039" cy="3474720"/>
          </a:xfrm>
          <a:prstGeom prst="rect">
            <a:avLst/>
          </a:prstGeom>
          <a:noFill/>
        </p:spPr>
        <p:txBody>
          <a:bodyPr wrap="square">
            <a:spAutoFit/>
          </a:bodyPr>
          <a:lstStyle/>
          <a:p>
            <a:pPr>
              <a:spcAft>
                <a:spcPts val="1000"/>
              </a:spcAft>
              <a:defRPr sz="2100" b="0">
                <a:solidFill>
                  <a:srgbClr val="0E2A5C"/>
                </a:solidFill>
              </a:defRPr>
            </a:pPr>
            <a:r>
              <a:t>Cost comparison: Traditional consultation ≈ $600 (2 hours × $300/hr) vs. RonyGuard at $15/month for ongoing guidance.</a:t>
            </a:r>
          </a:p>
          <a:p>
            <a:pPr/>
            <a:r>
              <a:t>Revenue projection: 10,000 subscribers × $15/month = $150,000 MRR (~$1.8M ARR).</a:t>
            </a:r>
          </a:p>
          <a:p>
            <a:pPr/>
            <a:r>
              <a:t>Expense and ROI: Estimated cloud + operations cost ≈ $40,000/month, supporting strong gross-margin potential as users scale.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E2A5C"/>
          </a:solidFill>
          <a:ln>
            <a:noFill/>
          </a:ln>
        </p:spPr>
        <p:style>
          <a:lnRef idx="1">
            <a:schemeClr val="accent1"/>
          </a:lnRef>
          <a:fillRef idx="3">
            <a:schemeClr val="accent1"/>
          </a:fillRef>
          <a:effectRef idx="2">
            <a:schemeClr val="accent1"/>
          </a:effectRef>
          <a:fontRef idx="minor">
            <a:schemeClr val="lt1"/>
          </a:fontRef>
        </p:style>
        <p:txBody>
          <a:bodyPr rtlCol="0" anchor="ctr"/>
          <a:lstStyle/>
          <a:p>
            <a:r>
              <a:t>Conclusion &amp; Evaluation</a:t>
            </a:r>
          </a:p>
        </p:txBody>
      </p:sp>
      <p:sp>
        <p:nvSpPr>
          <p:cNvPr id="3" name="TextBox 2"/>
          <p:cNvSpPr txBox="1"/>
          <p:nvPr/>
        </p:nvSpPr>
        <p:spPr>
          <a:xfrm>
            <a:off x="457200" y="1005840"/>
            <a:ext cx="6217920" cy="3291840"/>
          </a:xfrm>
          <a:prstGeom prst="rect">
            <a:avLst/>
          </a:prstGeom>
          <a:noFill/>
        </p:spPr>
        <p:txBody>
          <a:bodyPr wrap="square">
            <a:spAutoFit/>
          </a:bodyPr>
          <a:lstStyle/>
          <a:p>
            <a:pPr>
              <a:spcAft>
                <a:spcPts val="800"/>
              </a:spcAft>
              <a:defRPr sz="2100">
                <a:solidFill>
                  <a:srgbClr val="191919"/>
                </a:solidFill>
              </a:defRPr>
            </a:pPr>
            <a:r>
              <a:t>Section 1: RonyGuard is clearly identified as a fictitious (F) legal-tech company for CIS-421.</a:t>
            </a:r>
          </a:p>
          <a:p>
            <a:pPr/>
            <a:r>
              <a:t>Sections 2–3: The justice-gap problem and legal-amnesia context are defined, with root causes across process, systems, data, security, and strategy.</a:t>
            </a:r>
          </a:p>
          <a:p>
            <a:pPr/>
            <a:r>
              <a:t>Section 4: The solution and platform are specified using SaaS/PaaS plus networking, databases, AI, security controls, Agile development, and global considerations.</a:t>
            </a:r>
          </a:p>
          <a:p>
            <a:pPr/>
            <a:r>
              <a:t>Section 5: A labeled financial chart shows cost savings, recurring-revenue potential, and expense/ROI logic.</a:t>
            </a:r>
          </a:p>
          <a:p>
            <a:pPr/>
            <a:r>
              <a:t>Closing: RonyGuard shows how MIS and AI can help close the justice gap through an accessible, scalable service.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