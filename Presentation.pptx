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Cost Comparison: Traditional Lawyer vs RonyGuard Subscription</a:t>
            </a:r>
          </a:p>
        </c:rich>
      </c:tx>
      <c:layout/>
      <c:overlay val="0"/>
    </c:title>
    <c:autoTitleDeleted val="0"/>
    <c:plotArea>
      <c:barChart>
        <c:barDir val="col"/>
        <c:grouping val="clustered"/>
        <c:ser>
          <c:idx val="0"/>
          <c:order val="0"/>
          <c:tx>
            <c:strRef>
              <c:f>Sheet1!$B$1</c:f>
              <c:strCache>
                <c:ptCount val="1"/>
                <c:pt idx="0">
                  <c:v>Cost (USD)</c:v>
                </c:pt>
              </c:strCache>
            </c:strRef>
          </c:tx>
          <c:spPr>
            <a:solidFill>
              <a:srgbClr val="235399"/>
            </a:solidFill>
            <a:ln>
              <a:noFill/>
            </a:ln>
          </c:spPr>
          <c:cat>
            <c:strRef>
              <c:f>Sheet1!$A$2:$A$3</c:f>
              <c:strCache>
                <c:ptCount val="2"/>
                <c:pt idx="0">
                  <c:v>Traditional Lawyer</c:v>
                </c:pt>
                <c:pt idx="1">
                  <c:v>RonyGuard Subscription</c:v>
                </c:pt>
              </c:strCache>
            </c:strRef>
          </c:cat>
          <c:val>
            <c:numRef>
              <c:f>Sheet1!$B$2:$B$3</c:f>
              <c:numCache>
                <c:formatCode>General</c:formatCode>
                <c:ptCount val="2"/>
                <c:pt idx="0">
                  <c:v>600</c:v>
                </c:pt>
                <c:pt idx="1">
                  <c:v>15</c:v>
                </c:pt>
              </c:numCache>
            </c:numRef>
          </c:val>
        </c:ser>
        <c:axId val="-2068027336"/>
        <c:axId val="-2113994440"/>
      </c:barChart>
      <c:catAx>
        <c:axId val="-2068027336"/>
        <c:scaling>
          <c:orientation val="minMax"/>
        </c:scaling>
        <c:delete val="0"/>
        <c:axPos val="b"/>
        <c:title>
          <c:tx>
            <c:rich>
              <a:bodyPr/>
              <a:lstStyle/>
              <a:p>
                <a:r>
                  <a:t>Service Type</a:t>
                </a:r>
              </a:p>
            </c:rich>
          </c:tx>
          <c:layout/>
          <c:overlay val="0"/>
        </c:title>
        <c:majorTickMark val="out"/>
        <c:minorTickMark val="none"/>
        <c:tickLblPos val="nextTo"/>
        <c:crossAx val="-2113994440"/>
        <c:crosses val="autoZero"/>
        <c:auto val="1"/>
        <c:lblAlgn val="ctr"/>
        <c:lblOffset val="100"/>
        <c:noMultiLvlLbl val="0"/>
      </c:catAx>
      <c:valAx>
        <c:axId val="-2113994440"/>
        <c:scaling>
          <c:max val="320.0"/>
          <c:min val="0.0"/>
        </c:scaling>
        <c:delete val="0"/>
        <c:axPos val="l"/>
        <c:majorGridlines/>
        <c:title>
          <c:tx>
            <c:rich>
              <a:bodyPr/>
              <a:lstStyle/>
              <a:p>
                <a:r>
                  <a:t>Cost (USD)</a:t>
                </a:r>
              </a:p>
            </c:rich>
          </c:tx>
          <c:layout/>
          <c:overlay val="0"/>
        </c:title>
        <c:majorTickMark val="out"/>
        <c:minorTickMark val="none"/>
        <c:tickLblPos val="nextTo"/>
        <c:crossAx val="-2068027336"/>
        <c:crosses val="autoZero"/>
        <c:majorUnit val="50.0"/>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Traditional Lawyer vs. RonyGuard AI</a:t>
            </a:r>
          </a:p>
        </c:rich>
      </c:tx>
      <c:layout/>
      <c:overlay val="0"/>
    </c:title>
    <c:autoTitleDeleted val="0"/>
    <c:plotArea>
      <c:barChart>
        <c:barDir val="col"/>
        <c:grouping val="clustered"/>
        <c:ser>
          <c:idx val="0"/>
          <c:order val="0"/>
          <c:tx>
            <c:strRef>
              <c:f>Sheet1!$B$1</c:f>
              <c:strCache>
                <c:ptCount val="1"/>
                <c:pt idx="0">
                  <c:v>Traditional Lawyer</c:v>
                </c:pt>
              </c:strCache>
            </c:strRef>
          </c:tx>
          <c:spPr>
            <a:solidFill>
              <a:srgbClr val="C0392B"/>
            </a:solidFill>
          </c:spPr>
          <c:dLbls>
            <c:numFmt formatCode="[$$-409]#,##0" sourceLinked="0"/>
            <c:showLegendKey val="0"/>
            <c:showVal val="0"/>
            <c:showCatName val="0"/>
            <c:showSerName val="0"/>
            <c:showPercent val="0"/>
            <c:showBubbleSize val="0"/>
            <c:showLeaderLines val="1"/>
          </c:dLbls>
          <c:cat>
            <c:strRef>
              <c:f>Sheet1!$A$2:$A$2</c:f>
              <c:strCache>
                <c:ptCount val="1"/>
                <c:pt idx="0">
                  <c:v>Cost Comparison</c:v>
                </c:pt>
              </c:strCache>
            </c:strRef>
          </c:cat>
          <c:val>
            <c:numRef>
              <c:f>Sheet1!$B$2:$B$2</c:f>
              <c:numCache>
                <c:formatCode>General</c:formatCode>
                <c:ptCount val="1"/>
                <c:pt idx="0">
                  <c:v>300</c:v>
                </c:pt>
              </c:numCache>
            </c:numRef>
          </c:val>
        </c:ser>
        <c:ser>
          <c:idx val="1"/>
          <c:order val="1"/>
          <c:tx>
            <c:strRef>
              <c:f>Sheet1!$C$1</c:f>
              <c:strCache>
                <c:ptCount val="1"/>
                <c:pt idx="0">
                  <c:v>RonyGuard AI</c:v>
                </c:pt>
              </c:strCache>
            </c:strRef>
          </c:tx>
          <c:spPr>
            <a:solidFill>
              <a:srgbClr val="27AE60"/>
            </a:solidFill>
          </c:spPr>
          <c:dLbls>
            <c:numFmt formatCode="[$$-409]#,##0" sourceLinked="0"/>
            <c:showLegendKey val="0"/>
            <c:showVal val="0"/>
            <c:showCatName val="0"/>
            <c:showSerName val="0"/>
            <c:showPercent val="0"/>
            <c:showBubbleSize val="0"/>
            <c:showLeaderLines val="1"/>
          </c:dLbls>
          <c:cat>
            <c:strRef>
              <c:f>Sheet1!$A$2:$A$2</c:f>
              <c:strCache>
                <c:ptCount val="1"/>
                <c:pt idx="0">
                  <c:v>Cost Comparison</c:v>
                </c:pt>
              </c:strCache>
            </c:strRef>
          </c:cat>
          <c:val>
            <c:numRef>
              <c:f>Sheet1!$C$2:$C$2</c:f>
              <c:numCache>
                <c:formatCode>General</c:formatCode>
                <c:ptCount val="1"/>
                <c:pt idx="0">
                  <c:v>15</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320.0"/>
          <c:min val="0.0"/>
        </c:scaling>
        <c:delete val="0"/>
        <c:axPos val="l"/>
        <c:majorGridlines/>
        <c:numFmt formatCode="[$$-409]#,##0" sourceLinked="0"/>
        <c:majorTickMark val="out"/>
        <c:minorTickMark val="none"/>
        <c:tickLblPos val="nextTo"/>
        <c:crossAx val="-2068027336"/>
        <c:crosses val="autoZero"/>
        <c:majorUnit val="50.0"/>
      </c:valAx>
    </c:plotArea>
    <c:legend>
      <c:legendPos val="b"/>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RonyGuard is a class concept, not a launched company. I will use future language throughout: the proposed app would provide real-time legal-rights guidance. This establishes the required fictitious (F) designation clearly before discussing the business case.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define the problem in business terms, not only technical terms. The unmet need is large, frequent, and costly, creating a strong market opportunity. RonyGuard would target moments where conventional legal services are unavailable or unaffordable.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root causes, not a restatement of the problem. The justice gap persists because process, system, data, security, and strategy issues reinforce each other. This analysis justifies why a technology-enabled model is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links the business model to platform choices. SaaS supports predictable recurring revenue, while PaaS supports rapid scaling and lower operational burden. The value proposition is improved access at lower cost with sustainable economics.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Vector databases store embeddings so the system retrieves by meaning, not just keywords. Retrieval-augmented generation grounds model responses in trusted legal sources, which helps reduce hallucinations. Security is handled through encryption, access control, auditing, and resilience planning.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walk left-to-right on the chart: traditional legal help is high-cost and episodic, while RonyGuard is low-cost and recurring. Then I connect MRR and ARR to subscription scalability, followed by estimated operating costs and margin potential. This directly satisfies the rubric requirement for revenue-and-expense visualization tied to the business case.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RonyGuard is a realistic but fictitious model showing how MIS concepts can produce both social impact and business value. I am happy to answer questions on architecture, security controls, and financial assumptions.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914400"/>
            <a:ext cx="5029200" cy="5029200"/>
          </a:xfrm>
          <a:prstGeom prst="ellipse">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589520" y="1920240"/>
            <a:ext cx="5029200" cy="5029200"/>
          </a:xfrm>
          <a:prstGeom prst="ellipse">
            <a:avLst/>
          </a:prstGeom>
          <a:solidFill>
            <a:srgbClr val="DF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394960"/>
            <a:ext cx="12188952" cy="1463040"/>
          </a:xfrm>
          <a:prstGeom prst="rect">
            <a:avLst/>
          </a:prstGeom>
          <a:solidFill>
            <a:srgbClr val="E7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822960"/>
            <a:ext cx="5669280" cy="1097280"/>
          </a:xfrm>
          <a:prstGeom prst="rect">
            <a:avLst/>
          </a:prstGeom>
          <a:noFill/>
        </p:spPr>
        <p:txBody>
          <a:bodyPr wrap="none">
            <a:spAutoFit/>
          </a:bodyPr>
          <a:lstStyle/>
          <a:p>
            <a:pPr algn="l"/>
            <a:r>
              <a:rPr b="1" sz="3800">
                <a:solidFill>
                  <a:srgbClr val="102B52"/>
                </a:solidFill>
                <a:latin typeface="Segoe UI"/>
              </a:rPr>
              <a:t>RonyGuard AI: Real-Time Legal Rights Assistant</a:t>
            </a:r>
          </a:p>
        </p:txBody>
      </p:sp>
      <p:sp>
        <p:nvSpPr>
          <p:cNvPr id="7" name="TextBox 6"/>
          <p:cNvSpPr txBox="1"/>
          <p:nvPr/>
        </p:nvSpPr>
        <p:spPr>
          <a:xfrm>
            <a:off x="749808" y="1828800"/>
            <a:ext cx="5760720" cy="731520"/>
          </a:xfrm>
          <a:prstGeom prst="rect">
            <a:avLst/>
          </a:prstGeom>
          <a:noFill/>
        </p:spPr>
        <p:txBody>
          <a:bodyPr wrap="none">
            <a:spAutoFit/>
          </a:bodyPr>
          <a:lstStyle/>
          <a:p>
            <a:r>
              <a:rPr sz="2200">
                <a:solidFill>
                  <a:srgbClr val="2D3848"/>
                </a:solidFill>
                <a:latin typeface="Segoe UI"/>
              </a:rPr>
              <a:t>Real-time legal rights guidance for everyday people.</a:t>
            </a:r>
          </a:p>
        </p:txBody>
      </p:sp>
      <p:sp>
        <p:nvSpPr>
          <p:cNvPr id="8" name="TextBox 7"/>
          <p:cNvSpPr txBox="1"/>
          <p:nvPr/>
        </p:nvSpPr>
        <p:spPr>
          <a:xfrm>
            <a:off x="749808" y="2514600"/>
            <a:ext cx="5669280" cy="457200"/>
          </a:xfrm>
          <a:prstGeom prst="rect">
            <a:avLst/>
          </a:prstGeom>
          <a:noFill/>
        </p:spPr>
        <p:txBody>
          <a:bodyPr wrap="none">
            <a:spAutoFit/>
          </a:bodyPr>
          <a:lstStyle/>
          <a:p>
            <a:r>
              <a:rPr sz="1400">
                <a:solidFill>
                  <a:srgbClr val="2D3848"/>
                </a:solidFill>
                <a:latin typeface="Segoe UI"/>
              </a:rPr>
              <a:t>Fictitious consumer legal-tech startup · CIS-421</a:t>
            </a:r>
          </a:p>
        </p:txBody>
      </p:sp>
      <p:sp>
        <p:nvSpPr>
          <p:cNvPr id="9" name="Rounded Rectangle 8"/>
          <p:cNvSpPr/>
          <p:nvPr/>
        </p:nvSpPr>
        <p:spPr>
          <a:xfrm>
            <a:off x="6583680" y="868680"/>
            <a:ext cx="4846320" cy="4754880"/>
          </a:xfrm>
          <a:prstGeom prst="roundRect">
            <a:avLst/>
          </a:prstGeom>
          <a:solidFill>
            <a:srgbClr val="FFFFFF"/>
          </a:solidFill>
          <a:ln w="15240">
            <a:solidFill>
              <a:srgbClr val="CB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1051560"/>
            <a:ext cx="4334256" cy="4434840"/>
          </a:xfrm>
          <a:prstGeom prst="rect">
            <a:avLst/>
          </a:prstGeom>
          <a:noFill/>
        </p:spPr>
        <p:txBody>
          <a:bodyPr wrap="none">
            <a:spAutoFit/>
          </a:bodyPr>
          <a:lstStyle/>
          <a:p/>
        </p:txBody>
      </p:sp>
      <p:sp>
        <p:nvSpPr>
          <p:cNvPr id="11" name="Oval 10"/>
          <p:cNvSpPr/>
          <p:nvPr/>
        </p:nvSpPr>
        <p:spPr>
          <a:xfrm>
            <a:off x="731520" y="5440680"/>
            <a:ext cx="384048" cy="384048"/>
          </a:xfrm>
          <a:prstGeom prst="ellipse">
            <a:avLst/>
          </a:prstGeom>
          <a:solidFill>
            <a:srgbClr val="00D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449824"/>
            <a:ext cx="384048" cy="384048"/>
          </a:xfrm>
          <a:prstGeom prst="rect">
            <a:avLst/>
          </a:prstGeom>
          <a:noFill/>
        </p:spPr>
        <p:txBody>
          <a:bodyPr wrap="none">
            <a:spAutoFit/>
          </a:bodyPr>
          <a:lstStyle/>
          <a:p>
            <a:pPr algn="ctr"/>
            <a:r>
              <a:rPr b="1" sz="1300">
                <a:solidFill>
                  <a:srgbClr val="2D3848"/>
                </a:solidFill>
                <a:latin typeface="Segoe UI"/>
              </a:rPr>
              <a:t>R</a:t>
            </a:r>
          </a:p>
        </p:txBody>
      </p:sp>
      <p:sp>
        <p:nvSpPr>
          <p:cNvPr id="13" name="TextBox 12"/>
          <p:cNvSpPr txBox="1"/>
          <p:nvPr/>
        </p:nvSpPr>
        <p:spPr>
          <a:xfrm>
            <a:off x="1207008" y="5495544"/>
            <a:ext cx="4754880" cy="274320"/>
          </a:xfrm>
          <a:prstGeom prst="rect">
            <a:avLst/>
          </a:prstGeom>
          <a:noFill/>
        </p:spPr>
        <p:txBody>
          <a:bodyPr wrap="none">
            <a:spAutoFit/>
          </a:bodyPr>
          <a:lstStyle/>
          <a:p>
            <a:r>
              <a:rPr sz="1400">
                <a:solidFill>
                  <a:srgbClr val="2D3848"/>
                </a:solidFill>
                <a:latin typeface="Segoe UI"/>
              </a:rPr>
              <a:t>Ronald Kipkemboi | Shaw University | Fictitious Company (F)</a:t>
            </a:r>
          </a:p>
        </p:txBody>
      </p:sp>
      <p:pic>
        <p:nvPicPr>
          <p:cNvPr id="14" name="Picture 13" descr="digital_gavel_shield.png"/>
          <p:cNvPicPr>
            <a:picLocks noChangeAspect="1"/>
          </p:cNvPicPr>
          <p:nvPr/>
        </p:nvPicPr>
        <p:blipFill>
          <a:blip r:embed="rId4"/>
          <a:stretch>
            <a:fillRect/>
          </a:stretch>
        </p:blipFill>
        <p:spPr>
          <a:xfrm>
            <a:off x="6720840" y="1005840"/>
            <a:ext cx="4572000" cy="44805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914400"/>
            <a:ext cx="5029200" cy="5029200"/>
          </a:xfrm>
          <a:prstGeom prst="ellipse">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589520" y="1920240"/>
            <a:ext cx="5029200" cy="5029200"/>
          </a:xfrm>
          <a:prstGeom prst="ellipse">
            <a:avLst/>
          </a:prstGeom>
          <a:solidFill>
            <a:srgbClr val="DF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394960"/>
            <a:ext cx="12188952" cy="1463040"/>
          </a:xfrm>
          <a:prstGeom prst="rect">
            <a:avLst/>
          </a:prstGeom>
          <a:solidFill>
            <a:srgbClr val="E7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11480"/>
            <a:ext cx="6217920" cy="914400"/>
          </a:xfrm>
          <a:prstGeom prst="rect">
            <a:avLst/>
          </a:prstGeom>
          <a:noFill/>
        </p:spPr>
        <p:txBody>
          <a:bodyPr wrap="none">
            <a:spAutoFit/>
          </a:bodyPr>
          <a:lstStyle/>
          <a:p>
            <a:r>
              <a:rPr sz="3600" b="1">
                <a:solidFill>
                  <a:srgbClr val="102B52"/>
                </a:solidFill>
                <a:latin typeface="Segoe UI"/>
              </a:rPr>
              <a:t>The Problem: The Justice Gap</a:t>
            </a:r>
          </a:p>
        </p:txBody>
      </p:sp>
      <p:sp>
        <p:nvSpPr>
          <p:cNvPr id="7" name="Rounded Rectangle 6"/>
          <p:cNvSpPr/>
          <p:nvPr/>
        </p:nvSpPr>
        <p:spPr>
          <a:xfrm>
            <a:off x="731520" y="1234440"/>
            <a:ext cx="5852160" cy="4389120"/>
          </a:xfrm>
          <a:prstGeom prst="roundRect">
            <a:avLst/>
          </a:prstGeom>
          <a:solidFill>
            <a:srgbClr val="16213D"/>
          </a:solidFill>
          <a:ln w="15240">
            <a:solidFill>
              <a:srgbClr val="3A5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417320"/>
            <a:ext cx="5340096" cy="4069080"/>
          </a:xfrm>
          <a:prstGeom prst="rect">
            <a:avLst/>
          </a:prstGeom>
          <a:noFill/>
        </p:spPr>
        <p:txBody>
          <a:bodyPr wrap="none">
            <a:spAutoFit/>
          </a:bodyPr>
          <a:lstStyle/>
          <a:p>
            <a:r>
              <a:rPr sz="2000" b="1">
                <a:solidFill>
                  <a:srgbClr val="2D3848"/>
                </a:solidFill>
                <a:latin typeface="Segoe UI"/>
              </a:rPr>
              <a:t>Why consumers struggle in critical moments</a:t>
            </a:r>
          </a:p>
          <a:p>
            <a:pPr/>
            <a:r>
              <a:rPr sz="1800">
                <a:solidFill>
                  <a:srgbClr val="2D3848"/>
                </a:solidFill>
                <a:latin typeface="Segoe UI"/>
              </a:rPr>
              <a:t>• High-stress legal encounters cause “legal amnesia.”</a:t>
            </a:r>
          </a:p>
          <a:p>
            <a:pPr/>
            <a:r>
              <a:rPr sz="1800">
                <a:solidFill>
                  <a:srgbClr val="2D3848"/>
                </a:solidFill>
                <a:latin typeface="Segoe UI"/>
              </a:rPr>
              <a:t>• People can’t quickly recall rights during stops or disputes.</a:t>
            </a:r>
          </a:p>
          <a:p>
            <a:pPr/>
            <a:r>
              <a:rPr sz="1800">
                <a:solidFill>
                  <a:srgbClr val="2D3848"/>
                </a:solidFill>
                <a:latin typeface="Segoe UI"/>
              </a:rPr>
              <a:t>• Traditional legal help is too slow and expensive for real-time use.</a:t>
            </a:r>
          </a:p>
          <a:p>
            <a:pPr/>
            <a:r>
              <a:rPr sz="1800">
                <a:solidFill>
                  <a:srgbClr val="2D3848"/>
                </a:solidFill>
                <a:latin typeface="Segoe UI"/>
              </a:rPr>
              <a:t>• Large underserved market needs always-on plain-language support.</a:t>
            </a:r>
          </a:p>
        </p:txBody>
      </p:sp>
      <p:sp>
        <p:nvSpPr>
          <p:cNvPr id="9" name="Rounded Rectangle 8"/>
          <p:cNvSpPr/>
          <p:nvPr/>
        </p:nvSpPr>
        <p:spPr>
          <a:xfrm>
            <a:off x="6858000" y="1234440"/>
            <a:ext cx="4572000" cy="4389120"/>
          </a:xfrm>
          <a:prstGeom prst="roundRect">
            <a:avLst/>
          </a:prstGeom>
          <a:solidFill>
            <a:srgbClr val="FFFFFF"/>
          </a:solidFill>
          <a:ln w="15240">
            <a:solidFill>
              <a:srgbClr val="CB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14032" y="1417320"/>
            <a:ext cx="4059936" cy="4069080"/>
          </a:xfrm>
          <a:prstGeom prst="rect">
            <a:avLst/>
          </a:prstGeom>
          <a:noFill/>
        </p:spPr>
        <p:txBody>
          <a:bodyPr wrap="none">
            <a:spAutoFit/>
          </a:bodyPr>
          <a:lstStyle/>
          <a:p/>
        </p:txBody>
      </p:sp>
      <p:sp>
        <p:nvSpPr>
          <p:cNvPr id="11" name="Oval 10"/>
          <p:cNvSpPr/>
          <p:nvPr/>
        </p:nvSpPr>
        <p:spPr>
          <a:xfrm>
            <a:off x="868680" y="1417320"/>
            <a:ext cx="402336" cy="402336"/>
          </a:xfrm>
          <a:prstGeom prst="ellipse">
            <a:avLst/>
          </a:prstGeom>
          <a:solidFill>
            <a:srgbClr val="2997FF"/>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435608"/>
            <a:ext cx="402336" cy="402336"/>
          </a:xfrm>
          <a:prstGeom prst="rect">
            <a:avLst/>
          </a:prstGeom>
          <a:noFill/>
        </p:spPr>
        <p:txBody>
          <a:bodyPr wrap="none">
            <a:spAutoFit/>
          </a:bodyPr>
          <a:lstStyle/>
          <a:p>
            <a:pPr algn="ctr"/>
            <a:r>
              <a:rPr sz="1400" b="1">
                <a:solidFill>
                  <a:srgbClr val="2D3848"/>
                </a:solidFill>
                <a:latin typeface="Segoe UI"/>
              </a:rPr>
              <a:t>!</a:t>
            </a:r>
          </a:p>
        </p:txBody>
      </p:sp>
      <p:pic>
        <p:nvPicPr>
          <p:cNvPr id="13" name="Picture 12" descr="stressed_encounter.png"/>
          <p:cNvPicPr>
            <a:picLocks noChangeAspect="1"/>
          </p:cNvPicPr>
          <p:nvPr/>
        </p:nvPicPr>
        <p:blipFill>
          <a:blip r:embed="rId4"/>
          <a:stretch>
            <a:fillRect/>
          </a:stretch>
        </p:blipFill>
        <p:spPr>
          <a:xfrm>
            <a:off x="6967728" y="1344168"/>
            <a:ext cx="4352544" cy="416966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914400"/>
            <a:ext cx="5029200" cy="5029200"/>
          </a:xfrm>
          <a:prstGeom prst="ellipse">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589520" y="1920240"/>
            <a:ext cx="5029200" cy="5029200"/>
          </a:xfrm>
          <a:prstGeom prst="ellipse">
            <a:avLst/>
          </a:prstGeom>
          <a:solidFill>
            <a:srgbClr val="DF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394960"/>
            <a:ext cx="12188952" cy="1463040"/>
          </a:xfrm>
          <a:prstGeom prst="rect">
            <a:avLst/>
          </a:prstGeom>
          <a:solidFill>
            <a:srgbClr val="E7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11480"/>
            <a:ext cx="5943600" cy="914400"/>
          </a:xfrm>
          <a:prstGeom prst="rect">
            <a:avLst/>
          </a:prstGeom>
          <a:noFill/>
        </p:spPr>
        <p:txBody>
          <a:bodyPr wrap="none">
            <a:spAutoFit/>
          </a:bodyPr>
          <a:lstStyle/>
          <a:p>
            <a:r>
              <a:rPr sz="3400" b="1">
                <a:solidFill>
                  <a:srgbClr val="102B52"/>
                </a:solidFill>
                <a:latin typeface="Segoe UI"/>
              </a:rPr>
              <a:t>Why the Gap Persists</a:t>
            </a:r>
          </a:p>
        </p:txBody>
      </p:sp>
      <p:sp>
        <p:nvSpPr>
          <p:cNvPr id="7" name="Rounded Rectangle 6"/>
          <p:cNvSpPr/>
          <p:nvPr/>
        </p:nvSpPr>
        <p:spPr>
          <a:xfrm>
            <a:off x="548640" y="1280160"/>
            <a:ext cx="5669280" cy="822960"/>
          </a:xfrm>
          <a:prstGeom prst="roundRect">
            <a:avLst/>
          </a:prstGeom>
          <a:solidFill>
            <a:srgbClr val="FFFFFF"/>
          </a:solidFill>
          <a:ln w="15240">
            <a:solidFill>
              <a:srgbClr val="CB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13232" y="1444752"/>
            <a:ext cx="320040" cy="320040"/>
          </a:xfrm>
          <a:prstGeom prst="ellipse">
            <a:avLst/>
          </a:prstGeom>
          <a:solidFill>
            <a:srgbClr val="0F2445"/>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444752"/>
            <a:ext cx="320040" cy="320040"/>
          </a:xfrm>
          <a:prstGeom prst="rect">
            <a:avLst/>
          </a:prstGeom>
          <a:noFill/>
        </p:spPr>
        <p:txBody>
          <a:bodyPr wrap="none">
            <a:spAutoFit/>
          </a:bodyPr>
          <a:lstStyle/>
          <a:p>
            <a:pPr algn="ctr"/>
            <a:r>
              <a:rPr sz="1400" b="1">
                <a:solidFill>
                  <a:srgbClr val="2D3848"/>
                </a:solidFill>
                <a:latin typeface="Segoe UI"/>
              </a:rPr>
              <a:t>•</a:t>
            </a:r>
          </a:p>
        </p:txBody>
      </p:sp>
      <p:sp>
        <p:nvSpPr>
          <p:cNvPr id="10" name="TextBox 9"/>
          <p:cNvSpPr txBox="1"/>
          <p:nvPr/>
        </p:nvSpPr>
        <p:spPr>
          <a:xfrm>
            <a:off x="1188720" y="1371600"/>
            <a:ext cx="4800600" cy="658368"/>
          </a:xfrm>
          <a:prstGeom prst="rect">
            <a:avLst/>
          </a:prstGeom>
          <a:noFill/>
        </p:spPr>
        <p:txBody>
          <a:bodyPr wrap="none">
            <a:spAutoFit/>
          </a:bodyPr>
          <a:lstStyle/>
          <a:p>
            <a:r>
              <a:rPr b="1" sz="1800">
                <a:solidFill>
                  <a:srgbClr val="2D3848"/>
                </a:solidFill>
                <a:latin typeface="Segoe UI"/>
              </a:rPr>
              <a:t>Process</a:t>
            </a:r>
          </a:p>
          <a:p>
            <a:r>
              <a:rPr sz="1400">
                <a:solidFill>
                  <a:srgbClr val="2D3848"/>
                </a:solidFill>
                <a:latin typeface="Segoe UI"/>
              </a:rPr>
              <a:t>Legal help starts after incidents, not during them.</a:t>
            </a:r>
          </a:p>
        </p:txBody>
      </p:sp>
      <p:sp>
        <p:nvSpPr>
          <p:cNvPr id="11" name="Rounded Rectangle 10"/>
          <p:cNvSpPr/>
          <p:nvPr/>
        </p:nvSpPr>
        <p:spPr>
          <a:xfrm>
            <a:off x="548640" y="2267712"/>
            <a:ext cx="5669280" cy="822960"/>
          </a:xfrm>
          <a:prstGeom prst="roundRect">
            <a:avLst/>
          </a:prstGeom>
          <a:solidFill>
            <a:srgbClr val="FFFFFF"/>
          </a:solidFill>
          <a:ln w="15240">
            <a:solidFill>
              <a:srgbClr val="CB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13232" y="2432304"/>
            <a:ext cx="320040" cy="320040"/>
          </a:xfrm>
          <a:prstGeom prst="ellipse">
            <a:avLst/>
          </a:prstGeom>
          <a:solidFill>
            <a:srgbClr val="0F2445"/>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432304"/>
            <a:ext cx="320040" cy="320040"/>
          </a:xfrm>
          <a:prstGeom prst="rect">
            <a:avLst/>
          </a:prstGeom>
          <a:noFill/>
        </p:spPr>
        <p:txBody>
          <a:bodyPr wrap="none">
            <a:spAutoFit/>
          </a:bodyPr>
          <a:lstStyle/>
          <a:p>
            <a:pPr algn="ctr"/>
            <a:r>
              <a:rPr sz="1400" b="1">
                <a:solidFill>
                  <a:srgbClr val="2D3848"/>
                </a:solidFill>
                <a:latin typeface="Segoe UI"/>
              </a:rPr>
              <a:t>•</a:t>
            </a:r>
          </a:p>
        </p:txBody>
      </p:sp>
      <p:sp>
        <p:nvSpPr>
          <p:cNvPr id="14" name="TextBox 13"/>
          <p:cNvSpPr txBox="1"/>
          <p:nvPr/>
        </p:nvSpPr>
        <p:spPr>
          <a:xfrm>
            <a:off x="1188720" y="2359152"/>
            <a:ext cx="4800600" cy="658368"/>
          </a:xfrm>
          <a:prstGeom prst="rect">
            <a:avLst/>
          </a:prstGeom>
          <a:noFill/>
        </p:spPr>
        <p:txBody>
          <a:bodyPr wrap="none">
            <a:spAutoFit/>
          </a:bodyPr>
          <a:lstStyle/>
          <a:p>
            <a:r>
              <a:rPr b="1" sz="1800">
                <a:solidFill>
                  <a:srgbClr val="2D3848"/>
                </a:solidFill>
                <a:latin typeface="Segoe UI"/>
              </a:rPr>
              <a:t>Systems</a:t>
            </a:r>
          </a:p>
          <a:p>
            <a:r>
              <a:rPr sz="1400">
                <a:solidFill>
                  <a:srgbClr val="2D3848"/>
                </a:solidFill>
                <a:latin typeface="Segoe UI"/>
              </a:rPr>
              <a:t>Dense legal docs are hard to search on mobile.</a:t>
            </a:r>
          </a:p>
        </p:txBody>
      </p:sp>
      <p:sp>
        <p:nvSpPr>
          <p:cNvPr id="15" name="Rounded Rectangle 14"/>
          <p:cNvSpPr/>
          <p:nvPr/>
        </p:nvSpPr>
        <p:spPr>
          <a:xfrm>
            <a:off x="548640" y="3255264"/>
            <a:ext cx="5669280" cy="822960"/>
          </a:xfrm>
          <a:prstGeom prst="roundRect">
            <a:avLst/>
          </a:prstGeom>
          <a:solidFill>
            <a:srgbClr val="FFFFFF"/>
          </a:solidFill>
          <a:ln w="15240">
            <a:solidFill>
              <a:srgbClr val="CB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3419856"/>
            <a:ext cx="320040" cy="320040"/>
          </a:xfrm>
          <a:prstGeom prst="ellipse">
            <a:avLst/>
          </a:prstGeom>
          <a:solidFill>
            <a:srgbClr val="0F2445"/>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3419856"/>
            <a:ext cx="320040" cy="320040"/>
          </a:xfrm>
          <a:prstGeom prst="rect">
            <a:avLst/>
          </a:prstGeom>
          <a:noFill/>
        </p:spPr>
        <p:txBody>
          <a:bodyPr wrap="none">
            <a:spAutoFit/>
          </a:bodyPr>
          <a:lstStyle/>
          <a:p>
            <a:pPr algn="ctr"/>
            <a:r>
              <a:rPr sz="1400" b="1">
                <a:solidFill>
                  <a:srgbClr val="2D3848"/>
                </a:solidFill>
                <a:latin typeface="Segoe UI"/>
              </a:rPr>
              <a:t>•</a:t>
            </a:r>
          </a:p>
        </p:txBody>
      </p:sp>
      <p:sp>
        <p:nvSpPr>
          <p:cNvPr id="18" name="TextBox 17"/>
          <p:cNvSpPr txBox="1"/>
          <p:nvPr/>
        </p:nvSpPr>
        <p:spPr>
          <a:xfrm>
            <a:off x="1188720" y="3346704"/>
            <a:ext cx="4800600" cy="658368"/>
          </a:xfrm>
          <a:prstGeom prst="rect">
            <a:avLst/>
          </a:prstGeom>
          <a:noFill/>
        </p:spPr>
        <p:txBody>
          <a:bodyPr wrap="none">
            <a:spAutoFit/>
          </a:bodyPr>
          <a:lstStyle/>
          <a:p>
            <a:r>
              <a:rPr b="1" sz="1800">
                <a:solidFill>
                  <a:srgbClr val="2D3848"/>
                </a:solidFill>
                <a:latin typeface="Segoe UI"/>
              </a:rPr>
              <a:t>Data</a:t>
            </a:r>
          </a:p>
          <a:p>
            <a:r>
              <a:rPr sz="1400">
                <a:solidFill>
                  <a:srgbClr val="2D3848"/>
                </a:solidFill>
                <a:latin typeface="Segoe UI"/>
              </a:rPr>
              <a:t>Rights questions are under-tracked, limiting insights.</a:t>
            </a:r>
          </a:p>
        </p:txBody>
      </p:sp>
      <p:sp>
        <p:nvSpPr>
          <p:cNvPr id="19" name="Rounded Rectangle 18"/>
          <p:cNvSpPr/>
          <p:nvPr/>
        </p:nvSpPr>
        <p:spPr>
          <a:xfrm>
            <a:off x="548640" y="4242816"/>
            <a:ext cx="5669280" cy="822960"/>
          </a:xfrm>
          <a:prstGeom prst="roundRect">
            <a:avLst/>
          </a:prstGeom>
          <a:solidFill>
            <a:srgbClr val="FFFFFF"/>
          </a:solidFill>
          <a:ln w="15240">
            <a:solidFill>
              <a:srgbClr val="CB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3232" y="4407408"/>
            <a:ext cx="320040" cy="320040"/>
          </a:xfrm>
          <a:prstGeom prst="ellipse">
            <a:avLst/>
          </a:prstGeom>
          <a:solidFill>
            <a:srgbClr val="0F2445"/>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4407408"/>
            <a:ext cx="320040" cy="320040"/>
          </a:xfrm>
          <a:prstGeom prst="rect">
            <a:avLst/>
          </a:prstGeom>
          <a:noFill/>
        </p:spPr>
        <p:txBody>
          <a:bodyPr wrap="none">
            <a:spAutoFit/>
          </a:bodyPr>
          <a:lstStyle/>
          <a:p>
            <a:pPr algn="ctr"/>
            <a:r>
              <a:rPr sz="1400" b="1">
                <a:solidFill>
                  <a:srgbClr val="2D3848"/>
                </a:solidFill>
                <a:latin typeface="Segoe UI"/>
              </a:rPr>
              <a:t>•</a:t>
            </a:r>
          </a:p>
        </p:txBody>
      </p:sp>
      <p:sp>
        <p:nvSpPr>
          <p:cNvPr id="22" name="TextBox 21"/>
          <p:cNvSpPr txBox="1"/>
          <p:nvPr/>
        </p:nvSpPr>
        <p:spPr>
          <a:xfrm>
            <a:off x="1188720" y="4334256"/>
            <a:ext cx="4800600" cy="658368"/>
          </a:xfrm>
          <a:prstGeom prst="rect">
            <a:avLst/>
          </a:prstGeom>
          <a:noFill/>
        </p:spPr>
        <p:txBody>
          <a:bodyPr wrap="none">
            <a:spAutoFit/>
          </a:bodyPr>
          <a:lstStyle/>
          <a:p>
            <a:r>
              <a:rPr b="1" sz="1800">
                <a:solidFill>
                  <a:srgbClr val="2D3848"/>
                </a:solidFill>
                <a:latin typeface="Segoe UI"/>
              </a:rPr>
              <a:t>Security</a:t>
            </a:r>
          </a:p>
          <a:p>
            <a:r>
              <a:rPr sz="1400">
                <a:solidFill>
                  <a:srgbClr val="2D3848"/>
                </a:solidFill>
                <a:latin typeface="Segoe UI"/>
              </a:rPr>
              <a:t>Surveillance concerns prevent people from asking.</a:t>
            </a:r>
          </a:p>
        </p:txBody>
      </p:sp>
      <p:sp>
        <p:nvSpPr>
          <p:cNvPr id="23" name="Rounded Rectangle 22"/>
          <p:cNvSpPr/>
          <p:nvPr/>
        </p:nvSpPr>
        <p:spPr>
          <a:xfrm>
            <a:off x="548640" y="5230368"/>
            <a:ext cx="5669280" cy="822960"/>
          </a:xfrm>
          <a:prstGeom prst="roundRect">
            <a:avLst/>
          </a:prstGeom>
          <a:solidFill>
            <a:srgbClr val="FFFFFF"/>
          </a:solidFill>
          <a:ln w="15240">
            <a:solidFill>
              <a:srgbClr val="CB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5394960"/>
            <a:ext cx="320040" cy="320040"/>
          </a:xfrm>
          <a:prstGeom prst="ellipse">
            <a:avLst/>
          </a:prstGeom>
          <a:solidFill>
            <a:srgbClr val="0F2445"/>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5394960"/>
            <a:ext cx="320040" cy="320040"/>
          </a:xfrm>
          <a:prstGeom prst="rect">
            <a:avLst/>
          </a:prstGeom>
          <a:noFill/>
        </p:spPr>
        <p:txBody>
          <a:bodyPr wrap="none">
            <a:spAutoFit/>
          </a:bodyPr>
          <a:lstStyle/>
          <a:p>
            <a:pPr algn="ctr"/>
            <a:r>
              <a:rPr sz="1400" b="1">
                <a:solidFill>
                  <a:srgbClr val="2D3848"/>
                </a:solidFill>
                <a:latin typeface="Segoe UI"/>
              </a:rPr>
              <a:t>•</a:t>
            </a:r>
          </a:p>
        </p:txBody>
      </p:sp>
      <p:sp>
        <p:nvSpPr>
          <p:cNvPr id="26" name="TextBox 25"/>
          <p:cNvSpPr txBox="1"/>
          <p:nvPr/>
        </p:nvSpPr>
        <p:spPr>
          <a:xfrm>
            <a:off x="1188720" y="5321808"/>
            <a:ext cx="4800600" cy="658368"/>
          </a:xfrm>
          <a:prstGeom prst="rect">
            <a:avLst/>
          </a:prstGeom>
          <a:noFill/>
        </p:spPr>
        <p:txBody>
          <a:bodyPr wrap="none">
            <a:spAutoFit/>
          </a:bodyPr>
          <a:lstStyle/>
          <a:p>
            <a:r>
              <a:rPr b="1" sz="1800">
                <a:solidFill>
                  <a:srgbClr val="2D3848"/>
                </a:solidFill>
                <a:latin typeface="Segoe UI"/>
              </a:rPr>
              <a:t>Strategy</a:t>
            </a:r>
          </a:p>
          <a:p>
            <a:r>
              <a:rPr sz="1400">
                <a:solidFill>
                  <a:srgbClr val="2D3848"/>
                </a:solidFill>
                <a:latin typeface="Segoe UI"/>
              </a:rPr>
              <a:t>Legacy incentives underfund low-cost legal tools.</a:t>
            </a:r>
          </a:p>
        </p:txBody>
      </p:sp>
      <p:pic>
        <p:nvPicPr>
          <p:cNvPr id="27" name="Picture 26" descr="time_bureaucracy.png"/>
          <p:cNvPicPr>
            <a:picLocks noChangeAspect="1"/>
          </p:cNvPicPr>
          <p:nvPr/>
        </p:nvPicPr>
        <p:blipFill>
          <a:blip r:embed="rId4"/>
          <a:stretch>
            <a:fillRect/>
          </a:stretch>
        </p:blipFill>
        <p:spPr>
          <a:xfrm>
            <a:off x="6400800" y="1280160"/>
            <a:ext cx="3931920" cy="4480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914400"/>
            <a:ext cx="5029200" cy="5029200"/>
          </a:xfrm>
          <a:prstGeom prst="ellipse">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589520" y="1920240"/>
            <a:ext cx="5029200" cy="5029200"/>
          </a:xfrm>
          <a:prstGeom prst="ellipse">
            <a:avLst/>
          </a:prstGeom>
          <a:solidFill>
            <a:srgbClr val="DF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394960"/>
            <a:ext cx="12188952" cy="1463040"/>
          </a:xfrm>
          <a:prstGeom prst="rect">
            <a:avLst/>
          </a:prstGeom>
          <a:solidFill>
            <a:srgbClr val="E7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11480"/>
            <a:ext cx="6400800" cy="914400"/>
          </a:xfrm>
          <a:prstGeom prst="rect">
            <a:avLst/>
          </a:prstGeom>
          <a:noFill/>
        </p:spPr>
        <p:txBody>
          <a:bodyPr wrap="none">
            <a:spAutoFit/>
          </a:bodyPr>
          <a:lstStyle/>
          <a:p>
            <a:r>
              <a:rPr b="1" sz="3000">
                <a:solidFill>
                  <a:srgbClr val="102B52"/>
                </a:solidFill>
                <a:latin typeface="Segoe UI"/>
              </a:rPr>
              <a:t>Solution: RonyGuard Platform</a:t>
            </a:r>
          </a:p>
        </p:txBody>
      </p:sp>
      <p:sp>
        <p:nvSpPr>
          <p:cNvPr id="7" name="Rounded Rectangle 6"/>
          <p:cNvSpPr/>
          <p:nvPr/>
        </p:nvSpPr>
        <p:spPr>
          <a:xfrm>
            <a:off x="1005840" y="1188720"/>
            <a:ext cx="4206240" cy="4480560"/>
          </a:xfrm>
          <a:prstGeom prst="roundRect">
            <a:avLst/>
          </a:prstGeom>
          <a:solidFill>
            <a:srgbClr val="0C1426"/>
          </a:solidFill>
          <a:ln w="25400">
            <a:solidFill>
              <a:srgbClr val="4862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234440" y="1508760"/>
            <a:ext cx="3749039" cy="3840480"/>
          </a:xfrm>
          <a:prstGeom prst="roundRect">
            <a:avLst/>
          </a:prstGeom>
          <a:solidFill>
            <a:srgbClr val="FFFFFF"/>
          </a:solidFill>
          <a:ln>
            <a:solidFill>
              <a:srgbClr val="CB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783080"/>
            <a:ext cx="3200400" cy="3291840"/>
          </a:xfrm>
          <a:prstGeom prst="rect">
            <a:avLst/>
          </a:prstGeom>
          <a:noFill/>
        </p:spPr>
        <p:txBody>
          <a:bodyPr wrap="none">
            <a:spAutoFit/>
          </a:bodyPr>
          <a:lstStyle/>
          <a:p/>
        </p:txBody>
      </p:sp>
      <p:sp>
        <p:nvSpPr>
          <p:cNvPr id="10" name="TextBox 9"/>
          <p:cNvSpPr txBox="1"/>
          <p:nvPr/>
        </p:nvSpPr>
        <p:spPr>
          <a:xfrm>
            <a:off x="5577840" y="1234440"/>
            <a:ext cx="5943600" cy="914400"/>
          </a:xfrm>
          <a:prstGeom prst="rect">
            <a:avLst/>
          </a:prstGeom>
          <a:noFill/>
        </p:spPr>
        <p:txBody>
          <a:bodyPr wrap="none">
            <a:spAutoFit/>
          </a:bodyPr>
          <a:lstStyle/>
          <a:p>
            <a:r>
              <a:rPr sz="1400">
                <a:solidFill>
                  <a:srgbClr val="2D3848"/>
                </a:solidFill>
                <a:latin typeface="Segoe UI"/>
              </a:rPr>
              <a:t>A subscription mobile + web service that gives immediate, plain-language legal guidance.</a:t>
            </a:r>
          </a:p>
        </p:txBody>
      </p:sp>
      <p:sp>
        <p:nvSpPr>
          <p:cNvPr id="11" name="Rounded Rectangle 10"/>
          <p:cNvSpPr/>
          <p:nvPr/>
        </p:nvSpPr>
        <p:spPr>
          <a:xfrm>
            <a:off x="5577840" y="2011680"/>
            <a:ext cx="5486400" cy="1005840"/>
          </a:xfrm>
          <a:prstGeom prst="roundRect">
            <a:avLst/>
          </a:prstGeom>
          <a:solidFill>
            <a:srgbClr val="16213D"/>
          </a:solidFill>
          <a:ln w="15240">
            <a:solidFill>
              <a:srgbClr val="3A5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760720" y="2267712"/>
            <a:ext cx="402336" cy="402336"/>
          </a:xfrm>
          <a:prstGeom prst="ellipse">
            <a:avLst/>
          </a:prstGeom>
          <a:solidFill>
            <a:srgbClr val="2997FF"/>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0" y="2286000"/>
            <a:ext cx="402336" cy="402336"/>
          </a:xfrm>
          <a:prstGeom prst="rect">
            <a:avLst/>
          </a:prstGeom>
          <a:noFill/>
        </p:spPr>
        <p:txBody>
          <a:bodyPr wrap="none">
            <a:spAutoFit/>
          </a:bodyPr>
          <a:lstStyle/>
          <a:p>
            <a:r>
              <a:rPr sz="1400">
                <a:solidFill>
                  <a:srgbClr val="2D3848"/>
                </a:solidFill>
                <a:latin typeface="Segoe UI"/>
              </a:rPr>
              <a:t>✓</a:t>
            </a:r>
          </a:p>
        </p:txBody>
      </p:sp>
      <p:sp>
        <p:nvSpPr>
          <p:cNvPr id="14" name="TextBox 13"/>
          <p:cNvSpPr txBox="1"/>
          <p:nvPr/>
        </p:nvSpPr>
        <p:spPr>
          <a:xfrm>
            <a:off x="6263640" y="2148840"/>
            <a:ext cx="4572000" cy="731520"/>
          </a:xfrm>
          <a:prstGeom prst="rect">
            <a:avLst/>
          </a:prstGeom>
          <a:noFill/>
        </p:spPr>
        <p:txBody>
          <a:bodyPr wrap="none">
            <a:spAutoFit/>
          </a:bodyPr>
          <a:lstStyle/>
          <a:p>
            <a:r>
              <a:rPr sz="1400">
                <a:solidFill>
                  <a:srgbClr val="2D3848"/>
                </a:solidFill>
                <a:latin typeface="Segoe UI"/>
              </a:rPr>
              <a:t>24/7 Instant Support</a:t>
            </a:r>
          </a:p>
          <a:p>
            <a:r>
              <a:rPr sz="1400">
                <a:solidFill>
                  <a:srgbClr val="2D3848"/>
                </a:solidFill>
                <a:latin typeface="Segoe UI"/>
              </a:rPr>
              <a:t>Real-time next steps in high-stress moments.</a:t>
            </a:r>
          </a:p>
        </p:txBody>
      </p:sp>
      <p:sp>
        <p:nvSpPr>
          <p:cNvPr id="15" name="Rounded Rectangle 14"/>
          <p:cNvSpPr/>
          <p:nvPr/>
        </p:nvSpPr>
        <p:spPr>
          <a:xfrm>
            <a:off x="5577840" y="3246120"/>
            <a:ext cx="5486400" cy="1005840"/>
          </a:xfrm>
          <a:prstGeom prst="roundRect">
            <a:avLst/>
          </a:prstGeom>
          <a:solidFill>
            <a:srgbClr val="16213D"/>
          </a:solidFill>
          <a:ln w="15240">
            <a:solidFill>
              <a:srgbClr val="3A5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0720" y="3502152"/>
            <a:ext cx="402336" cy="402336"/>
          </a:xfrm>
          <a:prstGeom prst="ellipse">
            <a:avLst/>
          </a:prstGeom>
          <a:solidFill>
            <a:srgbClr val="2997FF"/>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0" y="3520440"/>
            <a:ext cx="402336" cy="402336"/>
          </a:xfrm>
          <a:prstGeom prst="rect">
            <a:avLst/>
          </a:prstGeom>
          <a:noFill/>
        </p:spPr>
        <p:txBody>
          <a:bodyPr wrap="none">
            <a:spAutoFit/>
          </a:bodyPr>
          <a:lstStyle/>
          <a:p>
            <a:r>
              <a:rPr sz="1400">
                <a:solidFill>
                  <a:srgbClr val="2D3848"/>
                </a:solidFill>
                <a:latin typeface="Segoe UI"/>
              </a:rPr>
              <a:t>✓</a:t>
            </a:r>
          </a:p>
        </p:txBody>
      </p:sp>
      <p:sp>
        <p:nvSpPr>
          <p:cNvPr id="18" name="TextBox 17"/>
          <p:cNvSpPr txBox="1"/>
          <p:nvPr/>
        </p:nvSpPr>
        <p:spPr>
          <a:xfrm>
            <a:off x="6263640" y="3383280"/>
            <a:ext cx="4572000" cy="731520"/>
          </a:xfrm>
          <a:prstGeom prst="rect">
            <a:avLst/>
          </a:prstGeom>
          <a:noFill/>
        </p:spPr>
        <p:txBody>
          <a:bodyPr wrap="none">
            <a:spAutoFit/>
          </a:bodyPr>
          <a:lstStyle/>
          <a:p>
            <a:r>
              <a:rPr sz="1400">
                <a:solidFill>
                  <a:srgbClr val="2D3848"/>
                </a:solidFill>
                <a:latin typeface="Segoe UI"/>
              </a:rPr>
              <a:t>Scalable AI Platform</a:t>
            </a:r>
          </a:p>
          <a:p>
            <a:r>
              <a:rPr sz="1400">
                <a:solidFill>
                  <a:srgbClr val="2D3848"/>
                </a:solidFill>
                <a:latin typeface="Segoe UI"/>
              </a:rPr>
              <a:t>SaaS + PaaS architecture for fast iteration.</a:t>
            </a:r>
          </a:p>
        </p:txBody>
      </p:sp>
      <p:sp>
        <p:nvSpPr>
          <p:cNvPr id="19" name="Rounded Rectangle 18"/>
          <p:cNvSpPr/>
          <p:nvPr/>
        </p:nvSpPr>
        <p:spPr>
          <a:xfrm>
            <a:off x="5577840" y="4480560"/>
            <a:ext cx="5486400" cy="1005840"/>
          </a:xfrm>
          <a:prstGeom prst="roundRect">
            <a:avLst/>
          </a:prstGeom>
          <a:solidFill>
            <a:srgbClr val="16213D"/>
          </a:solidFill>
          <a:ln w="15240">
            <a:solidFill>
              <a:srgbClr val="3A5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0720" y="4736592"/>
            <a:ext cx="402336" cy="402336"/>
          </a:xfrm>
          <a:prstGeom prst="ellipse">
            <a:avLst/>
          </a:prstGeom>
          <a:solidFill>
            <a:srgbClr val="2997FF"/>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0" y="4754880"/>
            <a:ext cx="402336" cy="402336"/>
          </a:xfrm>
          <a:prstGeom prst="rect">
            <a:avLst/>
          </a:prstGeom>
          <a:noFill/>
        </p:spPr>
        <p:txBody>
          <a:bodyPr wrap="none">
            <a:spAutoFit/>
          </a:bodyPr>
          <a:lstStyle/>
          <a:p>
            <a:r>
              <a:rPr sz="1400">
                <a:solidFill>
                  <a:srgbClr val="2D3848"/>
                </a:solidFill>
                <a:latin typeface="Segoe UI"/>
              </a:rPr>
              <a:t>✓</a:t>
            </a:r>
          </a:p>
        </p:txBody>
      </p:sp>
      <p:sp>
        <p:nvSpPr>
          <p:cNvPr id="22" name="TextBox 21"/>
          <p:cNvSpPr txBox="1"/>
          <p:nvPr/>
        </p:nvSpPr>
        <p:spPr>
          <a:xfrm>
            <a:off x="6263640" y="4617720"/>
            <a:ext cx="4572000" cy="731520"/>
          </a:xfrm>
          <a:prstGeom prst="rect">
            <a:avLst/>
          </a:prstGeom>
          <a:noFill/>
        </p:spPr>
        <p:txBody>
          <a:bodyPr wrap="none">
            <a:spAutoFit/>
          </a:bodyPr>
          <a:lstStyle/>
          <a:p>
            <a:r>
              <a:rPr sz="1400">
                <a:solidFill>
                  <a:srgbClr val="2D3848"/>
                </a:solidFill>
                <a:latin typeface="Segoe UI"/>
              </a:rPr>
              <a:t>Business Upside</a:t>
            </a:r>
          </a:p>
          <a:p>
            <a:r>
              <a:rPr sz="1400">
                <a:solidFill>
                  <a:srgbClr val="2D3848"/>
                </a:solidFill>
                <a:latin typeface="Segoe UI"/>
              </a:rPr>
              <a:t>Recurring revenue without linear staffing growth.</a:t>
            </a:r>
          </a:p>
        </p:txBody>
      </p:sp>
      <p:pic>
        <p:nvPicPr>
          <p:cNvPr id="23" name="Picture 22" descr="smartphone_5g_cloud.png"/>
          <p:cNvPicPr>
            <a:picLocks noChangeAspect="1"/>
          </p:cNvPicPr>
          <p:nvPr/>
        </p:nvPicPr>
        <p:blipFill>
          <a:blip r:embed="rId4"/>
          <a:stretch>
            <a:fillRect/>
          </a:stretch>
        </p:blipFill>
        <p:spPr>
          <a:xfrm>
            <a:off x="1399032" y="1709928"/>
            <a:ext cx="3419855" cy="34747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914400"/>
            <a:ext cx="5029200" cy="5029200"/>
          </a:xfrm>
          <a:prstGeom prst="ellipse">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589520" y="1920240"/>
            <a:ext cx="5029200" cy="5029200"/>
          </a:xfrm>
          <a:prstGeom prst="ellipse">
            <a:avLst/>
          </a:prstGeom>
          <a:solidFill>
            <a:srgbClr val="DF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394960"/>
            <a:ext cx="12188952" cy="1463040"/>
          </a:xfrm>
          <a:prstGeom prst="rect">
            <a:avLst/>
          </a:prstGeom>
          <a:solidFill>
            <a:srgbClr val="E7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11480"/>
            <a:ext cx="7772400" cy="914400"/>
          </a:xfrm>
          <a:prstGeom prst="rect">
            <a:avLst/>
          </a:prstGeom>
          <a:noFill/>
        </p:spPr>
        <p:txBody>
          <a:bodyPr wrap="none">
            <a:spAutoFit/>
          </a:bodyPr>
          <a:lstStyle/>
          <a:p>
            <a:r>
              <a:rPr b="1" sz="3000">
                <a:solidFill>
                  <a:srgbClr val="102B52"/>
                </a:solidFill>
                <a:latin typeface="Segoe UI"/>
              </a:rPr>
              <a:t>Revenue &amp; Expense Visualization</a:t>
            </a:r>
          </a:p>
        </p:txBody>
      </p:sp>
      <p:sp>
        <p:nvSpPr>
          <p:cNvPr id="7" name="Rounded Rectangle 6"/>
          <p:cNvSpPr/>
          <p:nvPr/>
        </p:nvSpPr>
        <p:spPr>
          <a:xfrm>
            <a:off x="731520" y="1325880"/>
            <a:ext cx="3566160" cy="1965960"/>
          </a:xfrm>
          <a:prstGeom prst="roundRect">
            <a:avLst/>
          </a:prstGeom>
          <a:solidFill>
            <a:srgbClr val="16213D"/>
          </a:solidFill>
          <a:ln w="15240">
            <a:solidFill>
              <a:srgbClr val="3A5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508760"/>
            <a:ext cx="402336" cy="402336"/>
          </a:xfrm>
          <a:prstGeom prst="ellipse">
            <a:avLst/>
          </a:prstGeom>
          <a:solidFill>
            <a:srgbClr val="2997FF"/>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27048"/>
            <a:ext cx="402336" cy="402336"/>
          </a:xfrm>
          <a:prstGeom prst="rect">
            <a:avLst/>
          </a:prstGeom>
          <a:noFill/>
        </p:spPr>
        <p:txBody>
          <a:bodyPr wrap="none">
            <a:spAutoFit/>
          </a:bodyPr>
          <a:lstStyle/>
          <a:p>
            <a:pPr algn="ctr"/>
            <a:r>
              <a:rPr sz="1400" b="1">
                <a:solidFill>
                  <a:srgbClr val="2D3848"/>
                </a:solidFill>
                <a:latin typeface="Segoe UI"/>
              </a:rPr>
              <a:t>1</a:t>
            </a:r>
          </a:p>
        </p:txBody>
      </p:sp>
      <p:sp>
        <p:nvSpPr>
          <p:cNvPr id="10" name="TextBox 9"/>
          <p:cNvSpPr txBox="1"/>
          <p:nvPr/>
        </p:nvSpPr>
        <p:spPr>
          <a:xfrm>
            <a:off x="1417320" y="1508760"/>
            <a:ext cx="2743200" cy="1645920"/>
          </a:xfrm>
          <a:prstGeom prst="rect">
            <a:avLst/>
          </a:prstGeom>
          <a:noFill/>
        </p:spPr>
        <p:txBody>
          <a:bodyPr wrap="none">
            <a:spAutoFit/>
          </a:bodyPr>
          <a:lstStyle/>
          <a:p>
            <a:r>
              <a:rPr b="1" sz="1600">
                <a:solidFill>
                  <a:srgbClr val="2D3848"/>
                </a:solidFill>
                <a:latin typeface="Segoe UI"/>
              </a:rPr>
              <a:t>API Networking</a:t>
            </a:r>
          </a:p>
          <a:p>
            <a:r>
              <a:rPr sz="1250">
                <a:solidFill>
                  <a:srgbClr val="2D3848"/>
                </a:solidFill>
                <a:latin typeface="Segoe UI"/>
              </a:rPr>
              <a:t>HTTPS APIs over mobile networks for low-latency responses.</a:t>
            </a:r>
          </a:p>
        </p:txBody>
      </p:sp>
      <p:sp>
        <p:nvSpPr>
          <p:cNvPr id="11" name="Rounded Rectangle 10"/>
          <p:cNvSpPr/>
          <p:nvPr/>
        </p:nvSpPr>
        <p:spPr>
          <a:xfrm>
            <a:off x="4572000" y="1325880"/>
            <a:ext cx="3566160" cy="1965960"/>
          </a:xfrm>
          <a:prstGeom prst="roundRect">
            <a:avLst/>
          </a:prstGeom>
          <a:solidFill>
            <a:srgbClr val="16213D"/>
          </a:solidFill>
          <a:ln w="15240">
            <a:solidFill>
              <a:srgbClr val="3A5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754880" y="1508760"/>
            <a:ext cx="402336" cy="402336"/>
          </a:xfrm>
          <a:prstGeom prst="ellipse">
            <a:avLst/>
          </a:prstGeom>
          <a:solidFill>
            <a:srgbClr val="2997FF"/>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1527048"/>
            <a:ext cx="402336" cy="402336"/>
          </a:xfrm>
          <a:prstGeom prst="rect">
            <a:avLst/>
          </a:prstGeom>
          <a:noFill/>
        </p:spPr>
        <p:txBody>
          <a:bodyPr wrap="none">
            <a:spAutoFit/>
          </a:bodyPr>
          <a:lstStyle/>
          <a:p>
            <a:pPr algn="ctr"/>
            <a:r>
              <a:rPr sz="1400" b="1">
                <a:solidFill>
                  <a:srgbClr val="2D3848"/>
                </a:solidFill>
                <a:latin typeface="Segoe UI"/>
              </a:rPr>
              <a:t>2</a:t>
            </a:r>
          </a:p>
        </p:txBody>
      </p:sp>
      <p:sp>
        <p:nvSpPr>
          <p:cNvPr id="14" name="TextBox 13"/>
          <p:cNvSpPr txBox="1"/>
          <p:nvPr/>
        </p:nvSpPr>
        <p:spPr>
          <a:xfrm>
            <a:off x="5257800" y="1508760"/>
            <a:ext cx="2743200" cy="1645920"/>
          </a:xfrm>
          <a:prstGeom prst="rect">
            <a:avLst/>
          </a:prstGeom>
          <a:noFill/>
        </p:spPr>
        <p:txBody>
          <a:bodyPr wrap="none">
            <a:spAutoFit/>
          </a:bodyPr>
          <a:lstStyle/>
          <a:p>
            <a:r>
              <a:rPr b="1" sz="1600">
                <a:solidFill>
                  <a:srgbClr val="2D3848"/>
                </a:solidFill>
                <a:latin typeface="Segoe UI"/>
              </a:rPr>
              <a:t>Vector Retrieval</a:t>
            </a:r>
          </a:p>
          <a:p>
            <a:r>
              <a:rPr sz="1250">
                <a:solidFill>
                  <a:srgbClr val="2D3848"/>
                </a:solidFill>
                <a:latin typeface="Segoe UI"/>
              </a:rPr>
              <a:t>Semantic search across legal texts and FAQs.</a:t>
            </a:r>
          </a:p>
        </p:txBody>
      </p:sp>
      <p:sp>
        <p:nvSpPr>
          <p:cNvPr id="15" name="Rounded Rectangle 14"/>
          <p:cNvSpPr/>
          <p:nvPr/>
        </p:nvSpPr>
        <p:spPr>
          <a:xfrm>
            <a:off x="8412480" y="1325880"/>
            <a:ext cx="3566160" cy="1965960"/>
          </a:xfrm>
          <a:prstGeom prst="roundRect">
            <a:avLst/>
          </a:prstGeom>
          <a:solidFill>
            <a:srgbClr val="16213D"/>
          </a:solidFill>
          <a:ln w="15240">
            <a:solidFill>
              <a:srgbClr val="3A5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595360" y="1508760"/>
            <a:ext cx="402336" cy="402336"/>
          </a:xfrm>
          <a:prstGeom prst="ellipse">
            <a:avLst/>
          </a:prstGeom>
          <a:solidFill>
            <a:srgbClr val="2997FF"/>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527048"/>
            <a:ext cx="402336" cy="402336"/>
          </a:xfrm>
          <a:prstGeom prst="rect">
            <a:avLst/>
          </a:prstGeom>
          <a:noFill/>
        </p:spPr>
        <p:txBody>
          <a:bodyPr wrap="none">
            <a:spAutoFit/>
          </a:bodyPr>
          <a:lstStyle/>
          <a:p>
            <a:pPr algn="ctr"/>
            <a:r>
              <a:rPr sz="1400" b="1">
                <a:solidFill>
                  <a:srgbClr val="2D3848"/>
                </a:solidFill>
                <a:latin typeface="Segoe UI"/>
              </a:rPr>
              <a:t>3</a:t>
            </a:r>
          </a:p>
        </p:txBody>
      </p:sp>
      <p:sp>
        <p:nvSpPr>
          <p:cNvPr id="18" name="TextBox 17"/>
          <p:cNvSpPr txBox="1"/>
          <p:nvPr/>
        </p:nvSpPr>
        <p:spPr>
          <a:xfrm>
            <a:off x="9098280" y="1508760"/>
            <a:ext cx="2743200" cy="1645920"/>
          </a:xfrm>
          <a:prstGeom prst="rect">
            <a:avLst/>
          </a:prstGeom>
          <a:noFill/>
        </p:spPr>
        <p:txBody>
          <a:bodyPr wrap="none">
            <a:spAutoFit/>
          </a:bodyPr>
          <a:lstStyle/>
          <a:p>
            <a:r>
              <a:rPr b="1" sz="1600">
                <a:solidFill>
                  <a:srgbClr val="2D3848"/>
                </a:solidFill>
                <a:latin typeface="Segoe UI"/>
              </a:rPr>
              <a:t>Security Controls</a:t>
            </a:r>
          </a:p>
          <a:p>
            <a:r>
              <a:rPr sz="1250">
                <a:solidFill>
                  <a:srgbClr val="2D3848"/>
                </a:solidFill>
                <a:latin typeface="Segoe UI"/>
              </a:rPr>
              <a:t>AES-256, TLS, biometrics, RBAC, audit logs, backups.</a:t>
            </a:r>
          </a:p>
        </p:txBody>
      </p:sp>
      <p:sp>
        <p:nvSpPr>
          <p:cNvPr id="19" name="Rounded Rectangle 18"/>
          <p:cNvSpPr/>
          <p:nvPr/>
        </p:nvSpPr>
        <p:spPr>
          <a:xfrm>
            <a:off x="731520" y="3566160"/>
            <a:ext cx="3566160" cy="1965960"/>
          </a:xfrm>
          <a:prstGeom prst="roundRect">
            <a:avLst/>
          </a:prstGeom>
          <a:solidFill>
            <a:srgbClr val="16213D"/>
          </a:solidFill>
          <a:ln w="15240">
            <a:solidFill>
              <a:srgbClr val="3A5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3749040"/>
            <a:ext cx="402336" cy="402336"/>
          </a:xfrm>
          <a:prstGeom prst="ellipse">
            <a:avLst/>
          </a:prstGeom>
          <a:solidFill>
            <a:srgbClr val="2997FF"/>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767328"/>
            <a:ext cx="402336" cy="402336"/>
          </a:xfrm>
          <a:prstGeom prst="rect">
            <a:avLst/>
          </a:prstGeom>
          <a:noFill/>
        </p:spPr>
        <p:txBody>
          <a:bodyPr wrap="none">
            <a:spAutoFit/>
          </a:bodyPr>
          <a:lstStyle/>
          <a:p>
            <a:pPr algn="ctr"/>
            <a:r>
              <a:rPr sz="1400" b="1">
                <a:solidFill>
                  <a:srgbClr val="2D3848"/>
                </a:solidFill>
                <a:latin typeface="Segoe UI"/>
              </a:rPr>
              <a:t>4</a:t>
            </a:r>
          </a:p>
        </p:txBody>
      </p:sp>
      <p:sp>
        <p:nvSpPr>
          <p:cNvPr id="22" name="TextBox 21"/>
          <p:cNvSpPr txBox="1"/>
          <p:nvPr/>
        </p:nvSpPr>
        <p:spPr>
          <a:xfrm>
            <a:off x="1417320" y="3749040"/>
            <a:ext cx="2743200" cy="1645920"/>
          </a:xfrm>
          <a:prstGeom prst="rect">
            <a:avLst/>
          </a:prstGeom>
          <a:noFill/>
        </p:spPr>
        <p:txBody>
          <a:bodyPr wrap="none">
            <a:spAutoFit/>
          </a:bodyPr>
          <a:lstStyle/>
          <a:p>
            <a:r>
              <a:rPr b="1" sz="1600">
                <a:solidFill>
                  <a:srgbClr val="2D3848"/>
                </a:solidFill>
                <a:latin typeface="Segoe UI"/>
              </a:rPr>
              <a:t>Enterprise AI</a:t>
            </a:r>
          </a:p>
          <a:p>
            <a:r>
              <a:rPr sz="1250">
                <a:solidFill>
                  <a:srgbClr val="2D3848"/>
                </a:solidFill>
                <a:latin typeface="Segoe UI"/>
              </a:rPr>
              <a:t>RAG on Vertex AI-style stack to improve relevance.</a:t>
            </a:r>
          </a:p>
        </p:txBody>
      </p:sp>
      <p:sp>
        <p:nvSpPr>
          <p:cNvPr id="23" name="Rounded Rectangle 22"/>
          <p:cNvSpPr/>
          <p:nvPr/>
        </p:nvSpPr>
        <p:spPr>
          <a:xfrm>
            <a:off x="4572000" y="3566160"/>
            <a:ext cx="3566160" cy="1965960"/>
          </a:xfrm>
          <a:prstGeom prst="roundRect">
            <a:avLst/>
          </a:prstGeom>
          <a:solidFill>
            <a:srgbClr val="16213D"/>
          </a:solidFill>
          <a:ln w="15240">
            <a:solidFill>
              <a:srgbClr val="3A5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54880" y="3749040"/>
            <a:ext cx="402336" cy="402336"/>
          </a:xfrm>
          <a:prstGeom prst="ellipse">
            <a:avLst/>
          </a:prstGeom>
          <a:solidFill>
            <a:srgbClr val="2997FF"/>
          </a:solidFill>
          <a:ln>
            <a:solidFill>
              <a:srgbClr val="299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0" y="3767328"/>
            <a:ext cx="402336" cy="402336"/>
          </a:xfrm>
          <a:prstGeom prst="rect">
            <a:avLst/>
          </a:prstGeom>
          <a:noFill/>
        </p:spPr>
        <p:txBody>
          <a:bodyPr wrap="none">
            <a:spAutoFit/>
          </a:bodyPr>
          <a:lstStyle/>
          <a:p>
            <a:pPr algn="ctr"/>
            <a:r>
              <a:rPr sz="1400" b="1">
                <a:solidFill>
                  <a:srgbClr val="2D3848"/>
                </a:solidFill>
                <a:latin typeface="Segoe UI"/>
              </a:rPr>
              <a:t>5</a:t>
            </a:r>
          </a:p>
        </p:txBody>
      </p:sp>
      <p:sp>
        <p:nvSpPr>
          <p:cNvPr id="26" name="TextBox 25"/>
          <p:cNvSpPr txBox="1"/>
          <p:nvPr/>
        </p:nvSpPr>
        <p:spPr>
          <a:xfrm>
            <a:off x="5257800" y="3749040"/>
            <a:ext cx="2743200" cy="1645920"/>
          </a:xfrm>
          <a:prstGeom prst="rect">
            <a:avLst/>
          </a:prstGeom>
          <a:noFill/>
        </p:spPr>
        <p:txBody>
          <a:bodyPr wrap="none">
            <a:spAutoFit/>
          </a:bodyPr>
          <a:lstStyle/>
          <a:p>
            <a:r>
              <a:rPr b="1" sz="1600">
                <a:solidFill>
                  <a:srgbClr val="2D3848"/>
                </a:solidFill>
                <a:latin typeface="Segoe UI"/>
              </a:rPr>
              <a:t>Agile Delivery</a:t>
            </a:r>
          </a:p>
          <a:p>
            <a:r>
              <a:rPr sz="1250">
                <a:solidFill>
                  <a:srgbClr val="2D3848"/>
                </a:solidFill>
                <a:latin typeface="Segoe UI"/>
              </a:rPr>
              <a:t>MVP sprints, feedback loops, and localization readiness.</a:t>
            </a:r>
          </a:p>
        </p:txBody>
      </p:sp>
      <p:graphicFrame>
        <p:nvGraphicFramePr>
          <p:cNvPr id="27" name="Chart 26"/>
          <p:cNvGraphicFramePr>
            <a:graphicFrameLocks noGrp="1"/>
          </p:cNvGraphicFramePr>
          <p:nvPr/>
        </p:nvGraphicFramePr>
        <p:xfrm>
          <a:off x="914400" y="1737360"/>
          <a:ext cx="9144000" cy="3383280"/>
        </p:xfrm>
        <a:graphic>
          <a:graphicData uri="http://schemas.openxmlformats.org/drawingml/2006/chart">
            <c:chart xmlns:c="http://schemas.openxmlformats.org/drawingml/2006/chart" r:id="rId4"/>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914400"/>
            <a:ext cx="5029200" cy="5029200"/>
          </a:xfrm>
          <a:prstGeom prst="ellipse">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589520" y="1920240"/>
            <a:ext cx="5029200" cy="5029200"/>
          </a:xfrm>
          <a:prstGeom prst="ellipse">
            <a:avLst/>
          </a:prstGeom>
          <a:solidFill>
            <a:srgbClr val="DF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394960"/>
            <a:ext cx="12188952" cy="1463040"/>
          </a:xfrm>
          <a:prstGeom prst="rect">
            <a:avLst/>
          </a:prstGeom>
          <a:solidFill>
            <a:srgbClr val="E7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11480"/>
            <a:ext cx="5577840" cy="914400"/>
          </a:xfrm>
          <a:prstGeom prst="rect">
            <a:avLst/>
          </a:prstGeom>
          <a:noFill/>
        </p:spPr>
        <p:txBody>
          <a:bodyPr wrap="none">
            <a:spAutoFit/>
          </a:bodyPr>
          <a:lstStyle/>
          <a:p>
            <a:r>
              <a:rPr b="1" sz="3000">
                <a:solidFill>
                  <a:srgbClr val="102B52"/>
                </a:solidFill>
                <a:latin typeface="Segoe UI"/>
              </a:rPr>
              <a:t>Project Roadmap &amp; Evaluation Notes</a:t>
            </a:r>
          </a:p>
        </p:txBody>
      </p:sp>
      <p:sp>
        <p:nvSpPr>
          <p:cNvPr id="7" name="Rounded Rectangle 6"/>
          <p:cNvSpPr/>
          <p:nvPr/>
        </p:nvSpPr>
        <p:spPr>
          <a:xfrm>
            <a:off x="640080" y="1645920"/>
            <a:ext cx="5303520" cy="914400"/>
          </a:xfrm>
          <a:prstGeom prst="roundRect">
            <a:avLst/>
          </a:prstGeom>
          <a:solidFill>
            <a:srgbClr val="FFFFFF"/>
          </a:solidFill>
          <a:ln w="15240">
            <a:solidFill>
              <a:srgbClr val="CB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4937760" cy="731520"/>
          </a:xfrm>
          <a:prstGeom prst="rect">
            <a:avLst/>
          </a:prstGeom>
          <a:noFill/>
        </p:spPr>
        <p:txBody>
          <a:bodyPr wrap="none">
            <a:spAutoFit/>
          </a:bodyPr>
          <a:lstStyle/>
          <a:p>
            <a:r>
              <a:rPr sz="3600" b="1">
                <a:solidFill>
                  <a:srgbClr val="2D3848"/>
                </a:solidFill>
                <a:latin typeface="Segoe UI"/>
              </a:rPr>
              <a:t>$15</a:t>
            </a:r>
          </a:p>
        </p:txBody>
      </p:sp>
      <p:sp>
        <p:nvSpPr>
          <p:cNvPr id="9" name="TextBox 8"/>
          <p:cNvSpPr txBox="1"/>
          <p:nvPr/>
        </p:nvSpPr>
        <p:spPr>
          <a:xfrm>
            <a:off x="868680" y="2148840"/>
            <a:ext cx="4937760" cy="548640"/>
          </a:xfrm>
          <a:prstGeom prst="rect">
            <a:avLst/>
          </a:prstGeom>
          <a:noFill/>
        </p:spPr>
        <p:txBody>
          <a:bodyPr wrap="none">
            <a:spAutoFit/>
          </a:bodyPr>
          <a:lstStyle/>
          <a:p>
            <a:r>
              <a:rPr sz="1300">
                <a:solidFill>
                  <a:srgbClr val="2D3848"/>
                </a:solidFill>
                <a:latin typeface="Segoe UI"/>
              </a:rPr>
              <a:t>Monthly subscription per user</a:t>
            </a:r>
          </a:p>
        </p:txBody>
      </p:sp>
      <p:sp>
        <p:nvSpPr>
          <p:cNvPr id="10" name="Rounded Rectangle 9"/>
          <p:cNvSpPr/>
          <p:nvPr/>
        </p:nvSpPr>
        <p:spPr>
          <a:xfrm>
            <a:off x="640080" y="2743200"/>
            <a:ext cx="5303520" cy="914400"/>
          </a:xfrm>
          <a:prstGeom prst="roundRect">
            <a:avLst/>
          </a:prstGeom>
          <a:solidFill>
            <a:srgbClr val="FFFFFF"/>
          </a:solidFill>
          <a:ln w="15240">
            <a:solidFill>
              <a:srgbClr val="CB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80360"/>
            <a:ext cx="4937760" cy="731520"/>
          </a:xfrm>
          <a:prstGeom prst="rect">
            <a:avLst/>
          </a:prstGeom>
          <a:noFill/>
        </p:spPr>
        <p:txBody>
          <a:bodyPr wrap="none">
            <a:spAutoFit/>
          </a:bodyPr>
          <a:lstStyle/>
          <a:p>
            <a:r>
              <a:rPr sz="3600" b="1">
                <a:solidFill>
                  <a:srgbClr val="2D3848"/>
                </a:solidFill>
                <a:latin typeface="Segoe UI"/>
              </a:rPr>
              <a:t>$150K MRR</a:t>
            </a:r>
          </a:p>
        </p:txBody>
      </p:sp>
      <p:sp>
        <p:nvSpPr>
          <p:cNvPr id="12" name="TextBox 11"/>
          <p:cNvSpPr txBox="1"/>
          <p:nvPr/>
        </p:nvSpPr>
        <p:spPr>
          <a:xfrm>
            <a:off x="868680" y="3246120"/>
            <a:ext cx="4937760" cy="548640"/>
          </a:xfrm>
          <a:prstGeom prst="rect">
            <a:avLst/>
          </a:prstGeom>
          <a:noFill/>
        </p:spPr>
        <p:txBody>
          <a:bodyPr wrap="none">
            <a:spAutoFit/>
          </a:bodyPr>
          <a:lstStyle/>
          <a:p>
            <a:r>
              <a:rPr sz="1300">
                <a:solidFill>
                  <a:srgbClr val="2D3848"/>
                </a:solidFill>
                <a:latin typeface="Segoe UI"/>
              </a:rPr>
              <a:t>10,000 subscribers × $15</a:t>
            </a:r>
          </a:p>
        </p:txBody>
      </p:sp>
      <p:sp>
        <p:nvSpPr>
          <p:cNvPr id="13" name="Rounded Rectangle 12"/>
          <p:cNvSpPr/>
          <p:nvPr/>
        </p:nvSpPr>
        <p:spPr>
          <a:xfrm>
            <a:off x="640080" y="3840480"/>
            <a:ext cx="5303520" cy="914400"/>
          </a:xfrm>
          <a:prstGeom prst="roundRect">
            <a:avLst/>
          </a:prstGeom>
          <a:solidFill>
            <a:srgbClr val="FFFFFF"/>
          </a:solidFill>
          <a:ln w="15240">
            <a:solidFill>
              <a:srgbClr val="CBD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977639"/>
            <a:ext cx="4937760" cy="731520"/>
          </a:xfrm>
          <a:prstGeom prst="rect">
            <a:avLst/>
          </a:prstGeom>
          <a:noFill/>
        </p:spPr>
        <p:txBody>
          <a:bodyPr wrap="none">
            <a:spAutoFit/>
          </a:bodyPr>
          <a:lstStyle/>
          <a:p>
            <a:r>
              <a:rPr sz="3600" b="1">
                <a:solidFill>
                  <a:srgbClr val="2D3848"/>
                </a:solidFill>
                <a:latin typeface="Segoe UI"/>
              </a:rPr>
              <a:t>~$40K</a:t>
            </a:r>
          </a:p>
        </p:txBody>
      </p:sp>
      <p:sp>
        <p:nvSpPr>
          <p:cNvPr id="15" name="TextBox 14"/>
          <p:cNvSpPr txBox="1"/>
          <p:nvPr/>
        </p:nvSpPr>
        <p:spPr>
          <a:xfrm>
            <a:off x="868680" y="4343400"/>
            <a:ext cx="4937760" cy="548640"/>
          </a:xfrm>
          <a:prstGeom prst="rect">
            <a:avLst/>
          </a:prstGeom>
          <a:noFill/>
        </p:spPr>
        <p:txBody>
          <a:bodyPr wrap="none">
            <a:spAutoFit/>
          </a:bodyPr>
          <a:lstStyle/>
          <a:p>
            <a:r>
              <a:rPr sz="1300">
                <a:solidFill>
                  <a:srgbClr val="2D3848"/>
                </a:solidFill>
                <a:latin typeface="Segoe UI"/>
              </a:rPr>
              <a:t>Estimated monthly cloud + ops cost</a:t>
            </a:r>
          </a:p>
        </p:txBody>
      </p:sp>
      <p:sp>
        <p:nvSpPr>
          <p:cNvPr id="16" name="TextBox 15"/>
          <p:cNvSpPr txBox="1"/>
          <p:nvPr/>
        </p:nvSpPr>
        <p:spPr>
          <a:xfrm>
            <a:off x="640080" y="4983480"/>
            <a:ext cx="5303520" cy="822960"/>
          </a:xfrm>
          <a:prstGeom prst="rect">
            <a:avLst/>
          </a:prstGeom>
          <a:noFill/>
        </p:spPr>
        <p:txBody>
          <a:bodyPr wrap="none">
            <a:spAutoFit/>
          </a:bodyPr>
          <a:lstStyle/>
          <a:p>
            <a:r>
              <a:rPr sz="1600">
                <a:solidFill>
                  <a:srgbClr val="2D3848"/>
                </a:solidFill>
                <a:latin typeface="Segoe UI"/>
              </a:rPr>
              <a:t>Compared with ~$600 for a typical 2-hour legal consultation, RonyGuard targets affordability and recurring revenue.</a:t>
            </a:r>
          </a:p>
        </p:txBody>
      </p:sp>
      <p:sp>
        <p:nvSpPr>
          <p:cNvPr id="17" name="TextBox 16"/>
          <p:cNvSpPr txBox="1"/>
          <p:nvPr/>
        </p:nvSpPr>
        <p:spPr>
          <a:xfrm>
            <a:off x="640080" y="5394960"/>
            <a:ext cx="5303520" cy="365760"/>
          </a:xfrm>
          <a:prstGeom prst="rect">
            <a:avLst/>
          </a:prstGeom>
          <a:noFill/>
        </p:spPr>
        <p:txBody>
          <a:bodyPr wrap="none">
            <a:spAutoFit/>
          </a:bodyPr>
          <a:lstStyle/>
          <a:p>
            <a:r>
              <a:rPr sz="1600">
                <a:solidFill>
                  <a:srgbClr val="2D3848"/>
                </a:solidFill>
                <a:latin typeface="Segoe UI"/>
              </a:rPr>
              <a:t>Roadmap to scale</a:t>
            </a:r>
          </a:p>
        </p:txBody>
      </p:sp>
      <p:sp>
        <p:nvSpPr>
          <p:cNvPr id="18" name="Rectangle 17"/>
          <p:cNvSpPr/>
          <p:nvPr/>
        </p:nvSpPr>
        <p:spPr>
          <a:xfrm>
            <a:off x="1005840" y="5532120"/>
            <a:ext cx="4389120" cy="45720"/>
          </a:xfrm>
          <a:prstGeom prst="rect">
            <a:avLst/>
          </a:prstGeom>
          <a:solidFill>
            <a:srgbClr val="466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97280" y="5413248"/>
            <a:ext cx="292608" cy="292608"/>
          </a:xfrm>
          <a:prstGeom prst="ellipse">
            <a:avLst/>
          </a:prstGeom>
          <a:solidFill>
            <a:srgbClr val="29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705856"/>
            <a:ext cx="1097280" cy="274320"/>
          </a:xfrm>
          <a:prstGeom prst="rect">
            <a:avLst/>
          </a:prstGeom>
          <a:noFill/>
        </p:spPr>
        <p:txBody>
          <a:bodyPr wrap="none">
            <a:spAutoFit/>
          </a:bodyPr>
          <a:lstStyle/>
          <a:p>
            <a:pPr algn="ctr"/>
            <a:r>
              <a:rPr sz="1150">
                <a:solidFill>
                  <a:srgbClr val="2D3848"/>
                </a:solidFill>
                <a:latin typeface="Segoe UI"/>
              </a:rPr>
              <a:t>MVP</a:t>
            </a:r>
          </a:p>
        </p:txBody>
      </p:sp>
      <p:sp>
        <p:nvSpPr>
          <p:cNvPr id="21" name="Oval 20"/>
          <p:cNvSpPr/>
          <p:nvPr/>
        </p:nvSpPr>
        <p:spPr>
          <a:xfrm>
            <a:off x="2194560" y="5413248"/>
            <a:ext cx="292608" cy="292608"/>
          </a:xfrm>
          <a:prstGeom prst="ellipse">
            <a:avLst/>
          </a:prstGeom>
          <a:solidFill>
            <a:srgbClr val="29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0" y="5705856"/>
            <a:ext cx="1097280" cy="274320"/>
          </a:xfrm>
          <a:prstGeom prst="rect">
            <a:avLst/>
          </a:prstGeom>
          <a:noFill/>
        </p:spPr>
        <p:txBody>
          <a:bodyPr wrap="none">
            <a:spAutoFit/>
          </a:bodyPr>
          <a:lstStyle/>
          <a:p>
            <a:pPr algn="ctr"/>
            <a:r>
              <a:rPr sz="1150">
                <a:solidFill>
                  <a:srgbClr val="2D3848"/>
                </a:solidFill>
                <a:latin typeface="Segoe UI"/>
              </a:rPr>
              <a:t>Pilot</a:t>
            </a:r>
          </a:p>
        </p:txBody>
      </p:sp>
      <p:sp>
        <p:nvSpPr>
          <p:cNvPr id="23" name="Oval 22"/>
          <p:cNvSpPr/>
          <p:nvPr/>
        </p:nvSpPr>
        <p:spPr>
          <a:xfrm>
            <a:off x="3291840" y="5413248"/>
            <a:ext cx="292608" cy="292608"/>
          </a:xfrm>
          <a:prstGeom prst="ellipse">
            <a:avLst/>
          </a:prstGeom>
          <a:solidFill>
            <a:srgbClr val="29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0" y="5705856"/>
            <a:ext cx="1097280" cy="274320"/>
          </a:xfrm>
          <a:prstGeom prst="rect">
            <a:avLst/>
          </a:prstGeom>
          <a:noFill/>
        </p:spPr>
        <p:txBody>
          <a:bodyPr wrap="none">
            <a:spAutoFit/>
          </a:bodyPr>
          <a:lstStyle/>
          <a:p>
            <a:pPr algn="ctr"/>
            <a:r>
              <a:rPr sz="1150">
                <a:solidFill>
                  <a:srgbClr val="2D3848"/>
                </a:solidFill>
                <a:latin typeface="Segoe UI"/>
              </a:rPr>
              <a:t>Regional Launch</a:t>
            </a:r>
          </a:p>
        </p:txBody>
      </p:sp>
      <p:sp>
        <p:nvSpPr>
          <p:cNvPr id="25" name="Oval 24"/>
          <p:cNvSpPr/>
          <p:nvPr/>
        </p:nvSpPr>
        <p:spPr>
          <a:xfrm>
            <a:off x="4389120" y="5413248"/>
            <a:ext cx="292608" cy="292608"/>
          </a:xfrm>
          <a:prstGeom prst="ellipse">
            <a:avLst/>
          </a:prstGeom>
          <a:solidFill>
            <a:srgbClr val="29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06240" y="5705856"/>
            <a:ext cx="1097280" cy="274320"/>
          </a:xfrm>
          <a:prstGeom prst="rect">
            <a:avLst/>
          </a:prstGeom>
          <a:noFill/>
        </p:spPr>
        <p:txBody>
          <a:bodyPr wrap="none">
            <a:spAutoFit/>
          </a:bodyPr>
          <a:lstStyle/>
          <a:p>
            <a:pPr algn="ctr"/>
            <a:r>
              <a:rPr sz="1150">
                <a:solidFill>
                  <a:srgbClr val="2D3848"/>
                </a:solidFill>
                <a:latin typeface="Segoe UI"/>
              </a:rPr>
              <a:t>Multi-jurisdiction</a:t>
            </a:r>
          </a:p>
        </p:txBody>
      </p:sp>
      <p:pic>
        <p:nvPicPr>
          <p:cNvPr id="27" name="Picture 26" descr="success_rocket.png"/>
          <p:cNvPicPr>
            <a:picLocks noChangeAspect="1"/>
          </p:cNvPicPr>
          <p:nvPr/>
        </p:nvPicPr>
        <p:blipFill>
          <a:blip r:embed="rId4"/>
          <a:stretch>
            <a:fillRect/>
          </a:stretch>
        </p:blipFill>
        <p:spPr>
          <a:xfrm>
            <a:off x="6400800" y="1554480"/>
            <a:ext cx="3840480" cy="43891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914400"/>
            <a:ext cx="5029200" cy="5029200"/>
          </a:xfrm>
          <a:prstGeom prst="ellipse">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589520" y="1920240"/>
            <a:ext cx="5029200" cy="5029200"/>
          </a:xfrm>
          <a:prstGeom prst="ellipse">
            <a:avLst/>
          </a:prstGeom>
          <a:solidFill>
            <a:srgbClr val="DF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394960"/>
            <a:ext cx="12188952" cy="1463040"/>
          </a:xfrm>
          <a:prstGeom prst="rect">
            <a:avLst/>
          </a:prstGeom>
          <a:solidFill>
            <a:srgbClr val="E7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188720"/>
            <a:ext cx="9601200" cy="1097280"/>
          </a:xfrm>
          <a:prstGeom prst="rect">
            <a:avLst/>
          </a:prstGeom>
          <a:noFill/>
        </p:spPr>
        <p:txBody>
          <a:bodyPr wrap="none">
            <a:spAutoFit/>
          </a:bodyPr>
          <a:lstStyle/>
          <a:p>
            <a:r>
              <a:rPr sz="4800" b="1">
                <a:solidFill>
                  <a:srgbClr val="102B52"/>
                </a:solidFill>
                <a:latin typeface="Segoe UI"/>
              </a:rPr>
              <a:t>Close the Justice Gap, at Scale.</a:t>
            </a:r>
          </a:p>
        </p:txBody>
      </p:sp>
      <p:sp>
        <p:nvSpPr>
          <p:cNvPr id="7" name="TextBox 6"/>
          <p:cNvSpPr txBox="1"/>
          <p:nvPr/>
        </p:nvSpPr>
        <p:spPr>
          <a:xfrm>
            <a:off x="1005840" y="2331720"/>
            <a:ext cx="9692640" cy="914400"/>
          </a:xfrm>
          <a:prstGeom prst="rect">
            <a:avLst/>
          </a:prstGeom>
          <a:noFill/>
        </p:spPr>
        <p:txBody>
          <a:bodyPr wrap="none">
            <a:spAutoFit/>
          </a:bodyPr>
          <a:lstStyle/>
          <a:p>
            <a:r>
              <a:rPr sz="2200">
                <a:solidFill>
                  <a:srgbClr val="2D3848"/>
                </a:solidFill>
                <a:latin typeface="Segoe UI"/>
              </a:rPr>
              <a:t>RonyGuard combines AI + modern MIS to deliver accessible legal-rights support when people need it most.</a:t>
            </a:r>
          </a:p>
        </p:txBody>
      </p:sp>
      <p:sp>
        <p:nvSpPr>
          <p:cNvPr id="8" name="Rounded Rectangle 7"/>
          <p:cNvSpPr/>
          <p:nvPr/>
        </p:nvSpPr>
        <p:spPr>
          <a:xfrm>
            <a:off x="1005840" y="3794760"/>
            <a:ext cx="2834640" cy="822960"/>
          </a:xfrm>
          <a:prstGeom prst="roundRect">
            <a:avLst/>
          </a:prstGeom>
          <a:solidFill>
            <a:srgbClr val="29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986784"/>
            <a:ext cx="2834640" cy="457200"/>
          </a:xfrm>
          <a:prstGeom prst="rect">
            <a:avLst/>
          </a:prstGeom>
          <a:noFill/>
        </p:spPr>
        <p:txBody>
          <a:bodyPr wrap="none">
            <a:spAutoFit/>
          </a:bodyPr>
          <a:lstStyle/>
          <a:p>
            <a:pPr algn="ctr"/>
            <a:r>
              <a:rPr b="1" sz="1800">
                <a:solidFill>
                  <a:srgbClr val="2D3848"/>
                </a:solidFill>
                <a:latin typeface="Segoe UI"/>
              </a:rPr>
              <a:t>Request a Demo</a:t>
            </a:r>
          </a:p>
        </p:txBody>
      </p:sp>
      <p:sp>
        <p:nvSpPr>
          <p:cNvPr id="10" name="TextBox 9"/>
          <p:cNvSpPr txBox="1"/>
          <p:nvPr/>
        </p:nvSpPr>
        <p:spPr>
          <a:xfrm>
            <a:off x="1005840" y="4800600"/>
            <a:ext cx="7315200" cy="365760"/>
          </a:xfrm>
          <a:prstGeom prst="rect">
            <a:avLst/>
          </a:prstGeom>
          <a:noFill/>
        </p:spPr>
        <p:txBody>
          <a:bodyPr wrap="none">
            <a:spAutoFit/>
          </a:bodyPr>
          <a:lstStyle/>
          <a:p>
            <a:r>
              <a:rPr sz="1300">
                <a:solidFill>
                  <a:srgbClr val="2D3848"/>
                </a:solidFill>
                <a:latin typeface="Segoe UI"/>
              </a:rPr>
              <a:t>Contact: ronald.kipkemboi@example.com  ·  ronyguard.app (placeholder)</a:t>
            </a:r>
          </a:p>
        </p:txBody>
      </p:sp>
      <p:sp>
        <p:nvSpPr>
          <p:cNvPr id="11" name="Rounded Rectangle 10"/>
          <p:cNvSpPr/>
          <p:nvPr/>
        </p:nvSpPr>
        <p:spPr>
          <a:xfrm>
            <a:off x="7315200" y="3611880"/>
            <a:ext cx="3566160" cy="1554480"/>
          </a:xfrm>
          <a:prstGeom prst="roundRect">
            <a:avLst/>
          </a:prstGeom>
          <a:solidFill>
            <a:srgbClr val="16213D"/>
          </a:solidFill>
          <a:ln w="15240">
            <a:solidFill>
              <a:srgbClr val="3A51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2" y="3794760"/>
            <a:ext cx="3054096" cy="1234440"/>
          </a:xfrm>
          <a:prstGeom prst="rect">
            <a:avLst/>
          </a:prstGeom>
          <a:noFill/>
        </p:spPr>
        <p:txBody>
          <a:bodyPr wrap="none">
            <a:spAutoFit/>
          </a:bodyPr>
          <a:lstStyle/>
          <a:p>
            <a:r>
              <a:rPr sz="2000" b="1">
                <a:solidFill>
                  <a:srgbClr val="2D3848"/>
                </a:solidFill>
                <a:latin typeface="Segoe UI"/>
              </a:rPr>
              <a:t>Visual Placeholder</a:t>
            </a:r>
          </a:p>
          <a:p>
            <a:pPr/>
            <a:r>
              <a:rPr sz="1800">
                <a:solidFill>
                  <a:srgbClr val="2D3848"/>
                </a:solidFill>
                <a:latin typeface="Segoe UI"/>
              </a:rPr>
              <a:t>• Add product screenshot or QR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